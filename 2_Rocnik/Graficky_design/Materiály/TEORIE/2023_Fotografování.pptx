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1"/>
  </p:sldMasterIdLst>
  <p:notesMasterIdLst>
    <p:notesMasterId r:id="rId3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3" r:id="rId20"/>
    <p:sldId id="275" r:id="rId21"/>
    <p:sldId id="274" r:id="rId22"/>
    <p:sldId id="279" r:id="rId23"/>
    <p:sldId id="280" r:id="rId24"/>
    <p:sldId id="276" r:id="rId25"/>
    <p:sldId id="277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2" r:id="rId37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800000"/>
    <a:srgbClr val="0000FF"/>
    <a:srgbClr val="FFFF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1" autoAdjust="0"/>
    <p:restoredTop sz="94660"/>
  </p:normalViewPr>
  <p:slideViewPr>
    <p:cSldViewPr>
      <p:cViewPr varScale="1">
        <p:scale>
          <a:sx n="85" d="100"/>
          <a:sy n="85" d="100"/>
        </p:scale>
        <p:origin x="144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BFF03A2-2DF2-D861-3EE1-9EADD1D902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C3F4BDD-29AA-B0E7-2AF3-E059B11CF3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8D8289C8-06D5-5257-5AAB-86138F028BC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3DB7E04B-FC6D-6023-D14C-AC2192BB7B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9E41CA67-228A-1CA5-10B0-BDE2A376B9D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D2303C33-B9E5-76A1-C1B8-3FF1AE71A1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37D7732-20AC-42D0-9B85-E074A7E60E6B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Line 2">
            <a:extLst>
              <a:ext uri="{FF2B5EF4-FFF2-40B4-BE49-F238E27FC236}">
                <a16:creationId xmlns:a16="http://schemas.microsoft.com/office/drawing/2014/main" id="{FEF554F7-9164-B726-02C6-65F53FF9B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E48F967-FEBE-851E-E742-04C3062F8D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cs-CZ" altLang="en-US" noProof="0"/>
              <a:t>Klepnutím lze upravit styl předlohy nadpisů.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49183EAF-8682-64EE-9EDF-DEEC22F526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cs-CZ" altLang="en-US" noProof="0"/>
              <a:t>Klepnutím lze upravit styl předlohy podnadpisů.</a:t>
            </a:r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6AD88100-30B5-353D-716D-17F66C532A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C53BD620-03EF-4B51-DE71-CD4B45C71D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4D22166D-A140-EB58-AA49-3D00A95B0F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42D933F-509C-4581-9D43-8E5D8158FCA7}" type="slidenum">
              <a:rPr lang="cs-CZ" altLang="en-US"/>
              <a:pPr/>
              <a:t>‹#›</a:t>
            </a:fld>
            <a:endParaRPr lang="cs-CZ" altLang="en-US"/>
          </a:p>
        </p:txBody>
      </p:sp>
      <p:grpSp>
        <p:nvGrpSpPr>
          <p:cNvPr id="69640" name="Group 8">
            <a:extLst>
              <a:ext uri="{FF2B5EF4-FFF2-40B4-BE49-F238E27FC236}">
                <a16:creationId xmlns:a16="http://schemas.microsoft.com/office/drawing/2014/main" id="{CD9A07B3-0D5E-B577-AF5C-9FEC88E3AF34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9641" name="Oval 9">
              <a:extLst>
                <a:ext uri="{FF2B5EF4-FFF2-40B4-BE49-F238E27FC236}">
                  <a16:creationId xmlns:a16="http://schemas.microsoft.com/office/drawing/2014/main" id="{F6C7C29C-8556-2096-BF2F-A3A430DF1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2" name="Oval 10">
              <a:extLst>
                <a:ext uri="{FF2B5EF4-FFF2-40B4-BE49-F238E27FC236}">
                  <a16:creationId xmlns:a16="http://schemas.microsoft.com/office/drawing/2014/main" id="{6908C281-78C5-B3D1-D4F4-33CC4EF10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3" name="Oval 11">
              <a:extLst>
                <a:ext uri="{FF2B5EF4-FFF2-40B4-BE49-F238E27FC236}">
                  <a16:creationId xmlns:a16="http://schemas.microsoft.com/office/drawing/2014/main" id="{768E11EC-D346-F89E-70F3-793639D23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4" name="Oval 12">
              <a:extLst>
                <a:ext uri="{FF2B5EF4-FFF2-40B4-BE49-F238E27FC236}">
                  <a16:creationId xmlns:a16="http://schemas.microsoft.com/office/drawing/2014/main" id="{81DDC35B-BC0F-3834-34C9-3A9CC8326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5" name="Oval 13">
              <a:extLst>
                <a:ext uri="{FF2B5EF4-FFF2-40B4-BE49-F238E27FC236}">
                  <a16:creationId xmlns:a16="http://schemas.microsoft.com/office/drawing/2014/main" id="{D013E14D-B8F9-4640-964A-B7C38EFFA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6" name="Oval 14">
              <a:extLst>
                <a:ext uri="{FF2B5EF4-FFF2-40B4-BE49-F238E27FC236}">
                  <a16:creationId xmlns:a16="http://schemas.microsoft.com/office/drawing/2014/main" id="{08DBEB7F-0302-3F8E-5865-A8FD9FF10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7" name="Oval 15">
              <a:extLst>
                <a:ext uri="{FF2B5EF4-FFF2-40B4-BE49-F238E27FC236}">
                  <a16:creationId xmlns:a16="http://schemas.microsoft.com/office/drawing/2014/main" id="{A8189B10-9897-047E-D315-D0F9DB480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8" name="Oval 16">
              <a:extLst>
                <a:ext uri="{FF2B5EF4-FFF2-40B4-BE49-F238E27FC236}">
                  <a16:creationId xmlns:a16="http://schemas.microsoft.com/office/drawing/2014/main" id="{3EFA0AAD-50D6-4DC4-5A33-B422D9998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49" name="Oval 17">
              <a:extLst>
                <a:ext uri="{FF2B5EF4-FFF2-40B4-BE49-F238E27FC236}">
                  <a16:creationId xmlns:a16="http://schemas.microsoft.com/office/drawing/2014/main" id="{5FB93AFC-AC3A-8958-6335-CAE66B2C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0" name="Oval 18">
              <a:extLst>
                <a:ext uri="{FF2B5EF4-FFF2-40B4-BE49-F238E27FC236}">
                  <a16:creationId xmlns:a16="http://schemas.microsoft.com/office/drawing/2014/main" id="{A9BFA62E-6751-B5DE-7213-A8236BE1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1" name="Oval 19">
              <a:extLst>
                <a:ext uri="{FF2B5EF4-FFF2-40B4-BE49-F238E27FC236}">
                  <a16:creationId xmlns:a16="http://schemas.microsoft.com/office/drawing/2014/main" id="{8E00521E-CB6A-7AC2-9028-008D1516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2" name="Oval 20">
              <a:extLst>
                <a:ext uri="{FF2B5EF4-FFF2-40B4-BE49-F238E27FC236}">
                  <a16:creationId xmlns:a16="http://schemas.microsoft.com/office/drawing/2014/main" id="{22E6E61B-893C-6BF4-6F59-FA2A9977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3" name="Oval 21">
              <a:extLst>
                <a:ext uri="{FF2B5EF4-FFF2-40B4-BE49-F238E27FC236}">
                  <a16:creationId xmlns:a16="http://schemas.microsoft.com/office/drawing/2014/main" id="{F69F0F2B-0CD5-5D5B-9A1A-2A87FA110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4" name="Oval 22">
              <a:extLst>
                <a:ext uri="{FF2B5EF4-FFF2-40B4-BE49-F238E27FC236}">
                  <a16:creationId xmlns:a16="http://schemas.microsoft.com/office/drawing/2014/main" id="{65FE26D8-B71C-C24B-87D3-BDA7DE842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5" name="Oval 23">
              <a:extLst>
                <a:ext uri="{FF2B5EF4-FFF2-40B4-BE49-F238E27FC236}">
                  <a16:creationId xmlns:a16="http://schemas.microsoft.com/office/drawing/2014/main" id="{37EA427E-C668-72A1-D294-B45A28188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6" name="Oval 24">
              <a:extLst>
                <a:ext uri="{FF2B5EF4-FFF2-40B4-BE49-F238E27FC236}">
                  <a16:creationId xmlns:a16="http://schemas.microsoft.com/office/drawing/2014/main" id="{EC4B8B58-44B4-5140-123B-EA7B21CE2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7" name="Oval 25">
              <a:extLst>
                <a:ext uri="{FF2B5EF4-FFF2-40B4-BE49-F238E27FC236}">
                  <a16:creationId xmlns:a16="http://schemas.microsoft.com/office/drawing/2014/main" id="{A9BE7C80-20D1-D628-C292-A66AA4102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8" name="Oval 26">
              <a:extLst>
                <a:ext uri="{FF2B5EF4-FFF2-40B4-BE49-F238E27FC236}">
                  <a16:creationId xmlns:a16="http://schemas.microsoft.com/office/drawing/2014/main" id="{FFAF0206-9FE4-4C19-E838-ABE431000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59" name="Oval 27">
              <a:extLst>
                <a:ext uri="{FF2B5EF4-FFF2-40B4-BE49-F238E27FC236}">
                  <a16:creationId xmlns:a16="http://schemas.microsoft.com/office/drawing/2014/main" id="{BA383E3E-C71B-220D-72D0-8E844EF48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0" name="Oval 28">
              <a:extLst>
                <a:ext uri="{FF2B5EF4-FFF2-40B4-BE49-F238E27FC236}">
                  <a16:creationId xmlns:a16="http://schemas.microsoft.com/office/drawing/2014/main" id="{A55B699A-7362-96D8-AAE9-E67D10481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1" name="Oval 29">
              <a:extLst>
                <a:ext uri="{FF2B5EF4-FFF2-40B4-BE49-F238E27FC236}">
                  <a16:creationId xmlns:a16="http://schemas.microsoft.com/office/drawing/2014/main" id="{9A0181DB-7D7E-A03F-872B-F8612CC80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2" name="Oval 30">
              <a:extLst>
                <a:ext uri="{FF2B5EF4-FFF2-40B4-BE49-F238E27FC236}">
                  <a16:creationId xmlns:a16="http://schemas.microsoft.com/office/drawing/2014/main" id="{DD5644D9-BEFE-8BCA-C08A-F415E913C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3" name="Oval 31">
              <a:extLst>
                <a:ext uri="{FF2B5EF4-FFF2-40B4-BE49-F238E27FC236}">
                  <a16:creationId xmlns:a16="http://schemas.microsoft.com/office/drawing/2014/main" id="{1B451407-8CCA-69EA-90D3-9E79F6A9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4" name="Oval 32">
              <a:extLst>
                <a:ext uri="{FF2B5EF4-FFF2-40B4-BE49-F238E27FC236}">
                  <a16:creationId xmlns:a16="http://schemas.microsoft.com/office/drawing/2014/main" id="{5D508606-BC71-3104-7E41-369283BD1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5" name="Oval 33">
              <a:extLst>
                <a:ext uri="{FF2B5EF4-FFF2-40B4-BE49-F238E27FC236}">
                  <a16:creationId xmlns:a16="http://schemas.microsoft.com/office/drawing/2014/main" id="{B97025DB-2A91-24C0-229B-51069C8B2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6" name="Oval 34">
              <a:extLst>
                <a:ext uri="{FF2B5EF4-FFF2-40B4-BE49-F238E27FC236}">
                  <a16:creationId xmlns:a16="http://schemas.microsoft.com/office/drawing/2014/main" id="{4D7093E7-1E0C-3FF9-3DFA-EC1426AEB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7" name="Oval 35">
              <a:extLst>
                <a:ext uri="{FF2B5EF4-FFF2-40B4-BE49-F238E27FC236}">
                  <a16:creationId xmlns:a16="http://schemas.microsoft.com/office/drawing/2014/main" id="{0815886C-A5E1-2F81-BAF0-934A368C8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8" name="Oval 36">
              <a:extLst>
                <a:ext uri="{FF2B5EF4-FFF2-40B4-BE49-F238E27FC236}">
                  <a16:creationId xmlns:a16="http://schemas.microsoft.com/office/drawing/2014/main" id="{C3DB2C7F-C2AA-F52D-0C2B-2F0038389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69" name="Oval 37">
              <a:extLst>
                <a:ext uri="{FF2B5EF4-FFF2-40B4-BE49-F238E27FC236}">
                  <a16:creationId xmlns:a16="http://schemas.microsoft.com/office/drawing/2014/main" id="{22ED5B50-63D4-9CE7-46E5-DD43E231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70" name="Oval 38">
              <a:extLst>
                <a:ext uri="{FF2B5EF4-FFF2-40B4-BE49-F238E27FC236}">
                  <a16:creationId xmlns:a16="http://schemas.microsoft.com/office/drawing/2014/main" id="{3137DD67-9437-43A2-423B-FD24152B0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9671" name="Oval 39">
              <a:extLst>
                <a:ext uri="{FF2B5EF4-FFF2-40B4-BE49-F238E27FC236}">
                  <a16:creationId xmlns:a16="http://schemas.microsoft.com/office/drawing/2014/main" id="{3B05DDFB-DD0D-2639-DC6F-5D02B8B78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69672" name="Line 40">
            <a:extLst>
              <a:ext uri="{FF2B5EF4-FFF2-40B4-BE49-F238E27FC236}">
                <a16:creationId xmlns:a16="http://schemas.microsoft.com/office/drawing/2014/main" id="{33ED6081-74E4-A70E-0A25-77E78582EC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5E60A2-DADC-0CEB-8109-A09C6DC8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7CD496-4034-A888-DEFA-1BA9A2ACF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C17BAE5-AF23-58F0-1C3A-4F0C7975B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1ECE242-A908-17DC-1CDD-F3168899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EB71EDB-57C5-012C-B3EB-FFEEC7D6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A963A3-02AF-45AE-B105-EC7F4C170930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97692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657038-4725-D529-E9C0-D485C273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C9FB5DC-3E13-1494-F80C-50617610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4BC26C9-E5E5-7146-E48B-F2047CED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F82C60-2A3D-D836-93BB-0EA93CA8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9B52BBF-01D1-DB04-326E-D6785636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20B98-319E-4D5A-93C5-14779786F4EA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58866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1DBF6A-10DA-8329-D5DB-3290EE2A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167444-D1E3-6B95-8C61-3B1345C7B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C89AEA6-CD9D-1EE8-C768-D508ACD2F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A82AF49-673E-C8EE-4D60-30693290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B65FD4E-A9CB-BE98-06F9-69FD98F87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D19EEDB-03DA-96AC-4884-78F16B55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697E4-615F-456A-B09B-3CA362878973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87653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EA7FF2-3A34-A301-FC42-7A578094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76F8767-01DD-C782-FDEB-3CE6B790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48F4FC0-CC23-F0AB-CA0B-2D74DCA62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B42BE52-64D2-5ACC-A1ED-88FDB92CC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5AE91AD-7B54-15D6-3562-CBC6FF7D3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2B5C3984-A3D1-E4F7-FC5E-164B5C09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270F7FD-6B21-ABF1-7161-EEC5F1F3C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7E11740-D64C-964B-420E-678608E3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5DEB2-8DA5-4D24-9AC6-A62062067365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4160158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1134D2-BAFD-1975-80F9-6AC5DA78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1FFFE2E-8F34-20B6-4EEE-72029DF69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E0D0671-DAA1-BD64-5BD9-05747A7C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FE7F8D0-3863-1E9A-A6E0-BA38BCC5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C4E804-546E-4694-A2D7-8EE42B8B54FF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60692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69FCAFE-40A3-2F8E-E49C-44276CEE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8E8F8C1-34EC-B602-791C-39521FA0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C3373FA-6597-B538-F7B3-C69D34BC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67D37-0E55-4947-943E-43C5E3EE4DDE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33160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9F2298-747E-375F-4623-B643450DB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C443FB-3E12-823B-1684-57D76ED9A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A2D7864-BDB3-1686-7C4E-C22A2F72E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720BDF5-79BE-E0BA-747C-FBF5D1D5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4B17555-F1F6-F3A1-DAEB-A3A0E539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22C7784-A464-C95D-4039-EE9FAC97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A961BE-5762-4E2E-B144-ECF42F4BBEBE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54129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4D39C8-D172-44D6-64E7-6CF19F9CF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1B5560D-5C17-F036-3FB9-E6FA8889A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F0BBB9D-49D5-78AA-89D2-D896E69C7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EEE7F52-93DA-C0EC-2522-949379DE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A3FAC02-C461-08F3-9967-A461246A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D72E71D-931D-6836-8F2A-DA42573C7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AF308-369E-4361-B2C0-94F71D26F981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0161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529E38-3431-4BFE-9CD6-958FA6D9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53C904A-61E0-884E-D8D1-40813CD38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CB4185-28A0-597B-CB5E-38AC8091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9A25267-3694-0CA2-A089-30E8A49E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8AF5601-1C4F-162C-D0D6-51E14363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619C8-BB45-4A21-8B79-B336195BB034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61854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EE3CD18-09AA-F83D-1201-86E7D61E0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C204995-9CF2-8EF1-1EF9-66C6C8F82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F2E294-0FA3-84DC-9068-AAC5B53B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3340421-4F87-60B7-8204-4DFE6995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9F97275-C077-4C96-A65A-1690F00C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25E91F-5AE3-4A36-B38B-C2316DB4DA68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790868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7A7B746B-C34A-6851-B558-866EAC03697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0E1E925-9797-DD1F-984D-3A4446DF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2DC6328-CF80-91B8-589F-C518FAFE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F7D78DB-D4C3-FCAB-0592-8ECCDFC8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2307054-D226-4587-AFC1-D66709734F15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605922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Nadpis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6A52F7-674F-8D2C-E45F-871584D6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abulku 2">
            <a:extLst>
              <a:ext uri="{FF2B5EF4-FFF2-40B4-BE49-F238E27FC236}">
                <a16:creationId xmlns:a16="http://schemas.microsoft.com/office/drawing/2014/main" id="{3D69AED6-A1BF-0A00-6960-A78EC49BF7C5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5F1E2B-77AE-9DBC-DD0D-4CFD42AB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2D7588-FB17-86D0-C602-83AA9C65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alt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CCFA551-B8B0-30C2-2632-0C99BD12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D20C9D8-4996-43B7-92FF-1C7341A6013C}" type="slidenum">
              <a:rPr lang="cs-CZ" altLang="en-US"/>
              <a:pPr/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35208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2">
            <a:extLst>
              <a:ext uri="{FF2B5EF4-FFF2-40B4-BE49-F238E27FC236}">
                <a16:creationId xmlns:a16="http://schemas.microsoft.com/office/drawing/2014/main" id="{FBA790C6-5F85-72E8-1CD9-823788004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D12589B8-2F1D-CBA4-7871-46B55D146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/>
              <a:t>Klepnutím lze upravit styl předlohy nadpisů.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C7B46A8F-C242-82D2-1A74-EBF5872B2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/>
              <a:t>Klepnutím lze upravit styly předlohy textu.</a:t>
            </a:r>
          </a:p>
          <a:p>
            <a:pPr lvl="1"/>
            <a:r>
              <a:rPr lang="cs-CZ" altLang="en-US"/>
              <a:t>Druhá úroveň</a:t>
            </a:r>
          </a:p>
          <a:p>
            <a:pPr lvl="2"/>
            <a:r>
              <a:rPr lang="cs-CZ" altLang="en-US"/>
              <a:t>Třetí úroveň</a:t>
            </a:r>
          </a:p>
          <a:p>
            <a:pPr lvl="3"/>
            <a:r>
              <a:rPr lang="cs-CZ" altLang="en-US"/>
              <a:t>Čtvrtá úroveň</a:t>
            </a:r>
          </a:p>
          <a:p>
            <a:pPr lvl="4"/>
            <a:r>
              <a:rPr lang="cs-CZ" altLang="en-US"/>
              <a:t>Pátá úroveň</a:t>
            </a: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F3842DAE-6573-E05E-C4FB-198A82C823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cs-CZ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7F6FF293-51B9-C7ED-6C5E-2E8E52E715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cs-CZ" altLang="en-US"/>
          </a:p>
        </p:txBody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90E9C8C3-940F-727A-40FF-AA4093848F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16286957-586A-4596-8B9D-6DB2ED249913}" type="slidenum">
              <a:rPr lang="cs-CZ" altLang="en-US"/>
              <a:pPr/>
              <a:t>‹#›</a:t>
            </a:fld>
            <a:endParaRPr lang="cs-CZ" altLang="en-US"/>
          </a:p>
        </p:txBody>
      </p:sp>
      <p:grpSp>
        <p:nvGrpSpPr>
          <p:cNvPr id="68616" name="Group 8">
            <a:extLst>
              <a:ext uri="{FF2B5EF4-FFF2-40B4-BE49-F238E27FC236}">
                <a16:creationId xmlns:a16="http://schemas.microsoft.com/office/drawing/2014/main" id="{65F363B4-5E49-A866-EC01-DBC96D8C8748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8617" name="Oval 9">
              <a:extLst>
                <a:ext uri="{FF2B5EF4-FFF2-40B4-BE49-F238E27FC236}">
                  <a16:creationId xmlns:a16="http://schemas.microsoft.com/office/drawing/2014/main" id="{7820D6E9-5847-30FD-A965-E54EB1B00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18" name="Oval 10">
              <a:extLst>
                <a:ext uri="{FF2B5EF4-FFF2-40B4-BE49-F238E27FC236}">
                  <a16:creationId xmlns:a16="http://schemas.microsoft.com/office/drawing/2014/main" id="{DCF0FD12-1D9A-1485-3733-53258869D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19" name="Oval 11">
              <a:extLst>
                <a:ext uri="{FF2B5EF4-FFF2-40B4-BE49-F238E27FC236}">
                  <a16:creationId xmlns:a16="http://schemas.microsoft.com/office/drawing/2014/main" id="{937A814E-4E90-703E-ED31-383FA9F98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0" name="Oval 12">
              <a:extLst>
                <a:ext uri="{FF2B5EF4-FFF2-40B4-BE49-F238E27FC236}">
                  <a16:creationId xmlns:a16="http://schemas.microsoft.com/office/drawing/2014/main" id="{93DD76F5-5445-FD69-3DDB-5F8CFE0DB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1" name="Oval 13">
              <a:extLst>
                <a:ext uri="{FF2B5EF4-FFF2-40B4-BE49-F238E27FC236}">
                  <a16:creationId xmlns:a16="http://schemas.microsoft.com/office/drawing/2014/main" id="{989F8DCA-E2A8-6521-3D75-5AD174CE1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2" name="Oval 14">
              <a:extLst>
                <a:ext uri="{FF2B5EF4-FFF2-40B4-BE49-F238E27FC236}">
                  <a16:creationId xmlns:a16="http://schemas.microsoft.com/office/drawing/2014/main" id="{FE06B3AC-A641-F5D9-EE93-3E6D47E4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3" name="Oval 15">
              <a:extLst>
                <a:ext uri="{FF2B5EF4-FFF2-40B4-BE49-F238E27FC236}">
                  <a16:creationId xmlns:a16="http://schemas.microsoft.com/office/drawing/2014/main" id="{5AC100EB-1D40-23B3-44B7-017CC98E9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4" name="Oval 16">
              <a:extLst>
                <a:ext uri="{FF2B5EF4-FFF2-40B4-BE49-F238E27FC236}">
                  <a16:creationId xmlns:a16="http://schemas.microsoft.com/office/drawing/2014/main" id="{580E1058-533F-298F-6990-7D6A8575C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5" name="Oval 17">
              <a:extLst>
                <a:ext uri="{FF2B5EF4-FFF2-40B4-BE49-F238E27FC236}">
                  <a16:creationId xmlns:a16="http://schemas.microsoft.com/office/drawing/2014/main" id="{55C9D5B4-63D7-33D1-06C5-ADB3C0C7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6" name="Oval 18">
              <a:extLst>
                <a:ext uri="{FF2B5EF4-FFF2-40B4-BE49-F238E27FC236}">
                  <a16:creationId xmlns:a16="http://schemas.microsoft.com/office/drawing/2014/main" id="{B8FE6D0F-F59F-6E70-2F6A-C88591833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7" name="Oval 19">
              <a:extLst>
                <a:ext uri="{FF2B5EF4-FFF2-40B4-BE49-F238E27FC236}">
                  <a16:creationId xmlns:a16="http://schemas.microsoft.com/office/drawing/2014/main" id="{141FF436-329D-336B-B7D6-FFC845223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8" name="Oval 20">
              <a:extLst>
                <a:ext uri="{FF2B5EF4-FFF2-40B4-BE49-F238E27FC236}">
                  <a16:creationId xmlns:a16="http://schemas.microsoft.com/office/drawing/2014/main" id="{7697CF10-DACA-7F2E-2F9C-C4AB39D7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29" name="Oval 21">
              <a:extLst>
                <a:ext uri="{FF2B5EF4-FFF2-40B4-BE49-F238E27FC236}">
                  <a16:creationId xmlns:a16="http://schemas.microsoft.com/office/drawing/2014/main" id="{AC315B3F-721C-AD58-773A-4E4A4C504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0" name="Oval 22">
              <a:extLst>
                <a:ext uri="{FF2B5EF4-FFF2-40B4-BE49-F238E27FC236}">
                  <a16:creationId xmlns:a16="http://schemas.microsoft.com/office/drawing/2014/main" id="{60E855BD-C4C5-8603-CF76-EB12AA7D8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1" name="Oval 23">
              <a:extLst>
                <a:ext uri="{FF2B5EF4-FFF2-40B4-BE49-F238E27FC236}">
                  <a16:creationId xmlns:a16="http://schemas.microsoft.com/office/drawing/2014/main" id="{2749DE93-52A7-8573-E80B-C1B2715C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2" name="Oval 24">
              <a:extLst>
                <a:ext uri="{FF2B5EF4-FFF2-40B4-BE49-F238E27FC236}">
                  <a16:creationId xmlns:a16="http://schemas.microsoft.com/office/drawing/2014/main" id="{61C22E26-AB7E-A0B5-BFC2-4A94EEEC2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3" name="Oval 25">
              <a:extLst>
                <a:ext uri="{FF2B5EF4-FFF2-40B4-BE49-F238E27FC236}">
                  <a16:creationId xmlns:a16="http://schemas.microsoft.com/office/drawing/2014/main" id="{8A6A188E-C2AD-3112-0CF8-E8FF6F4E5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4" name="Oval 26">
              <a:extLst>
                <a:ext uri="{FF2B5EF4-FFF2-40B4-BE49-F238E27FC236}">
                  <a16:creationId xmlns:a16="http://schemas.microsoft.com/office/drawing/2014/main" id="{67FA2509-36D3-CE7C-5EDE-2DA5B3CAA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5" name="Oval 27">
              <a:extLst>
                <a:ext uri="{FF2B5EF4-FFF2-40B4-BE49-F238E27FC236}">
                  <a16:creationId xmlns:a16="http://schemas.microsoft.com/office/drawing/2014/main" id="{1770AA06-DB4E-B35B-C317-65D842322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6" name="Oval 28">
              <a:extLst>
                <a:ext uri="{FF2B5EF4-FFF2-40B4-BE49-F238E27FC236}">
                  <a16:creationId xmlns:a16="http://schemas.microsoft.com/office/drawing/2014/main" id="{88583172-0CAB-2D4E-F97E-D31465B6B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7" name="Oval 29">
              <a:extLst>
                <a:ext uri="{FF2B5EF4-FFF2-40B4-BE49-F238E27FC236}">
                  <a16:creationId xmlns:a16="http://schemas.microsoft.com/office/drawing/2014/main" id="{BA973AE5-7F1D-730C-2017-F972F7AA8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8" name="Oval 30">
              <a:extLst>
                <a:ext uri="{FF2B5EF4-FFF2-40B4-BE49-F238E27FC236}">
                  <a16:creationId xmlns:a16="http://schemas.microsoft.com/office/drawing/2014/main" id="{D8BA6316-2EC2-24E7-35EA-D39583B4C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39" name="Oval 31">
              <a:extLst>
                <a:ext uri="{FF2B5EF4-FFF2-40B4-BE49-F238E27FC236}">
                  <a16:creationId xmlns:a16="http://schemas.microsoft.com/office/drawing/2014/main" id="{F805C0B9-2B3C-88AE-9BE8-A455DBCCC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0" name="Oval 32">
              <a:extLst>
                <a:ext uri="{FF2B5EF4-FFF2-40B4-BE49-F238E27FC236}">
                  <a16:creationId xmlns:a16="http://schemas.microsoft.com/office/drawing/2014/main" id="{FCECC075-DDD4-490F-A4AF-3ECBBAC8D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1" name="Oval 33">
              <a:extLst>
                <a:ext uri="{FF2B5EF4-FFF2-40B4-BE49-F238E27FC236}">
                  <a16:creationId xmlns:a16="http://schemas.microsoft.com/office/drawing/2014/main" id="{A976B04A-D861-BF88-7BB8-DE716910F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2" name="Oval 34">
              <a:extLst>
                <a:ext uri="{FF2B5EF4-FFF2-40B4-BE49-F238E27FC236}">
                  <a16:creationId xmlns:a16="http://schemas.microsoft.com/office/drawing/2014/main" id="{2E322855-C9B4-16C8-8B45-0BEBDA1F0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3" name="Oval 35">
              <a:extLst>
                <a:ext uri="{FF2B5EF4-FFF2-40B4-BE49-F238E27FC236}">
                  <a16:creationId xmlns:a16="http://schemas.microsoft.com/office/drawing/2014/main" id="{54B418B5-7026-E871-DBFE-790B33FF2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4" name="Oval 36">
              <a:extLst>
                <a:ext uri="{FF2B5EF4-FFF2-40B4-BE49-F238E27FC236}">
                  <a16:creationId xmlns:a16="http://schemas.microsoft.com/office/drawing/2014/main" id="{2E70962E-4036-C3F0-6E8B-7815D99FF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5" name="Oval 37">
              <a:extLst>
                <a:ext uri="{FF2B5EF4-FFF2-40B4-BE49-F238E27FC236}">
                  <a16:creationId xmlns:a16="http://schemas.microsoft.com/office/drawing/2014/main" id="{2FD8B1D9-BB31-F16F-D17C-9E0267192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6" name="Oval 38">
              <a:extLst>
                <a:ext uri="{FF2B5EF4-FFF2-40B4-BE49-F238E27FC236}">
                  <a16:creationId xmlns:a16="http://schemas.microsoft.com/office/drawing/2014/main" id="{EA6C3CD8-8E15-F410-FE58-5F0257010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8647" name="Oval 39">
              <a:extLst>
                <a:ext uri="{FF2B5EF4-FFF2-40B4-BE49-F238E27FC236}">
                  <a16:creationId xmlns:a16="http://schemas.microsoft.com/office/drawing/2014/main" id="{685582E8-504B-39CB-3CA1-C575BA886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upload.wikimedia.org/wikipedia/commons/a/a0/SLR_cross_section.svg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FC58A81-1D64-710E-9104-C0CA472DBB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cs-CZ" altLang="cs-CZ" sz="7200"/>
              <a:t>Fotografování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E4A8A43-7DF4-10E2-259D-62EFCE1AD8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altLang="cs-CZ" sz="4000" b="1">
                <a:solidFill>
                  <a:schemeClr val="accent2"/>
                </a:solidFill>
              </a:rPr>
              <a:t>Principy fotoaparátů</a:t>
            </a:r>
          </a:p>
          <a:p>
            <a:r>
              <a:rPr lang="cs-CZ" altLang="cs-CZ" sz="4000" b="1">
                <a:solidFill>
                  <a:schemeClr val="accent2"/>
                </a:solidFill>
              </a:rPr>
              <a:t>Základy fotografování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5" name="Picture 5">
            <a:extLst>
              <a:ext uri="{FF2B5EF4-FFF2-40B4-BE49-F238E27FC236}">
                <a16:creationId xmlns:a16="http://schemas.microsoft.com/office/drawing/2014/main" id="{5325350F-AF9A-69AA-D650-69D5E4B50E6C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333375"/>
            <a:ext cx="8785225" cy="5549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0647" name="Text Box 7">
            <a:extLst>
              <a:ext uri="{FF2B5EF4-FFF2-40B4-BE49-F238E27FC236}">
                <a16:creationId xmlns:a16="http://schemas.microsoft.com/office/drawing/2014/main" id="{78C60BBD-7981-6C4A-6B36-166590A18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6092825"/>
            <a:ext cx="287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 b="1">
                <a:solidFill>
                  <a:srgbClr val="0000FF"/>
                </a:solidFill>
              </a:rPr>
              <a:t>Digital pod lupou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3467C265-601E-9300-BD8C-93B64B74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61F78-C085-427E-B458-C8F10955C461}" type="slidenum">
              <a:rPr lang="cs-CZ" altLang="en-US"/>
              <a:pPr/>
              <a:t>3</a:t>
            </a:fld>
            <a:endParaRPr lang="cs-CZ" altLang="en-US"/>
          </a:p>
        </p:txBody>
      </p:sp>
      <p:pic>
        <p:nvPicPr>
          <p:cNvPr id="239620" name="Picture 4">
            <a:extLst>
              <a:ext uri="{FF2B5EF4-FFF2-40B4-BE49-F238E27FC236}">
                <a16:creationId xmlns:a16="http://schemas.microsoft.com/office/drawing/2014/main" id="{BD5D82EE-B12C-AAD8-3B2C-B97C68B61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789363"/>
            <a:ext cx="5076825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618" name="Rectangle 2">
            <a:extLst>
              <a:ext uri="{FF2B5EF4-FFF2-40B4-BE49-F238E27FC236}">
                <a16:creationId xmlns:a16="http://schemas.microsoft.com/office/drawing/2014/main" id="{796FCA08-CF52-D59E-4933-1F50B4A56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Fotoaparát</a:t>
            </a: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E331917C-AC2B-1D13-B069-C27F94A8E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Je přístroj, který zaznamená scénu před objektivem na „paměťové médium“.</a:t>
            </a:r>
          </a:p>
          <a:p>
            <a:r>
              <a:rPr lang="cs-CZ" altLang="cs-CZ"/>
              <a:t>Podle typu paměťového média lze rozlišovat:</a:t>
            </a:r>
          </a:p>
          <a:p>
            <a:pPr lvl="1"/>
            <a:r>
              <a:rPr lang="cs-CZ" altLang="cs-CZ" sz="3000"/>
              <a:t>„klasické“ fotoaparáty</a:t>
            </a:r>
          </a:p>
          <a:p>
            <a:pPr lvl="1"/>
            <a:r>
              <a:rPr lang="cs-CZ" altLang="cs-CZ" sz="3000"/>
              <a:t>digitální fotoaparáty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CB16AA0-000E-037E-DB06-EE8D2B61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2BA6-9EC1-4020-8EF7-E0E27120AB77}" type="slidenum">
              <a:rPr lang="cs-CZ" altLang="en-US"/>
              <a:pPr/>
              <a:t>4</a:t>
            </a:fld>
            <a:endParaRPr lang="cs-CZ" altLang="en-US"/>
          </a:p>
        </p:txBody>
      </p:sp>
      <p:sp>
        <p:nvSpPr>
          <p:cNvPr id="243714" name="Rectangle 2">
            <a:extLst>
              <a:ext uri="{FF2B5EF4-FFF2-40B4-BE49-F238E27FC236}">
                <a16:creationId xmlns:a16="http://schemas.microsoft.com/office/drawing/2014/main" id="{4ACD0188-694C-C21B-8AB4-D172C4505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Klasické fotoaparáty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4D3090C7-6C94-4369-0DAB-BBF2A6551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1277937"/>
          </a:xfrm>
        </p:spPr>
        <p:txBody>
          <a:bodyPr/>
          <a:lstStyle/>
          <a:p>
            <a:r>
              <a:rPr lang="cs-CZ" altLang="cs-CZ"/>
              <a:t>Obraz je zaznamenáván na film. </a:t>
            </a:r>
          </a:p>
          <a:p>
            <a:r>
              <a:rPr lang="cs-CZ" altLang="cs-CZ"/>
              <a:t>Další zpracování se provádí chemicky.</a:t>
            </a:r>
          </a:p>
        </p:txBody>
      </p:sp>
      <p:pic>
        <p:nvPicPr>
          <p:cNvPr id="243716" name="Picture 4">
            <a:extLst>
              <a:ext uri="{FF2B5EF4-FFF2-40B4-BE49-F238E27FC236}">
                <a16:creationId xmlns:a16="http://schemas.microsoft.com/office/drawing/2014/main" id="{54BD99EB-517D-3FE8-9A88-36F5A5619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068638"/>
            <a:ext cx="3175000" cy="251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3717" name="Picture 5">
            <a:extLst>
              <a:ext uri="{FF2B5EF4-FFF2-40B4-BE49-F238E27FC236}">
                <a16:creationId xmlns:a16="http://schemas.microsoft.com/office/drawing/2014/main" id="{5B5BB07A-7E94-01E2-15C5-6ABE59EA3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068638"/>
            <a:ext cx="3671887" cy="254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3718" name="Rectangle 6">
            <a:extLst>
              <a:ext uri="{FF2B5EF4-FFF2-40B4-BE49-F238E27FC236}">
                <a16:creationId xmlns:a16="http://schemas.microsoft.com/office/drawing/2014/main" id="{71726E69-42B8-558A-6AB5-A495A0A63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805488"/>
            <a:ext cx="2749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1839 –Jacques Daguerre</a:t>
            </a:r>
          </a:p>
        </p:txBody>
      </p:sp>
      <p:sp>
        <p:nvSpPr>
          <p:cNvPr id="243719" name="Rectangle 7">
            <a:extLst>
              <a:ext uri="{FF2B5EF4-FFF2-40B4-BE49-F238E27FC236}">
                <a16:creationId xmlns:a16="http://schemas.microsoft.com/office/drawing/2014/main" id="{7C5E0EF7-BE70-B52B-0E08-6C0C0808B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805488"/>
            <a:ext cx="3359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1888 – KODAK na svitkový film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A908C268-88D6-6384-6294-5F784F77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D6DB-F5F0-46C7-BF1F-F17CB57C3AAF}" type="slidenum">
              <a:rPr lang="cs-CZ" altLang="en-US"/>
              <a:pPr/>
              <a:t>5</a:t>
            </a:fld>
            <a:endParaRPr lang="cs-CZ" altLang="en-US"/>
          </a:p>
        </p:txBody>
      </p:sp>
      <p:sp>
        <p:nvSpPr>
          <p:cNvPr id="244738" name="Rectangle 2">
            <a:extLst>
              <a:ext uri="{FF2B5EF4-FFF2-40B4-BE49-F238E27FC236}">
                <a16:creationId xmlns:a16="http://schemas.microsoft.com/office/drawing/2014/main" id="{AA0D75D7-8590-3135-1941-AC48697A0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Klasické fotoaparáty</a:t>
            </a:r>
          </a:p>
        </p:txBody>
      </p:sp>
      <p:pic>
        <p:nvPicPr>
          <p:cNvPr id="244746" name="Picture 10">
            <a:extLst>
              <a:ext uri="{FF2B5EF4-FFF2-40B4-BE49-F238E27FC236}">
                <a16:creationId xmlns:a16="http://schemas.microsoft.com/office/drawing/2014/main" id="{ABE22B53-894A-6639-30C5-549EA3B94024}"/>
              </a:ext>
            </a:extLst>
          </p:cNvPr>
          <p:cNvPicPr>
            <a:picLocks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484313"/>
            <a:ext cx="2820988" cy="212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4747" name="Rectangle 11">
            <a:extLst>
              <a:ext uri="{FF2B5EF4-FFF2-40B4-BE49-F238E27FC236}">
                <a16:creationId xmlns:a16="http://schemas.microsoft.com/office/drawing/2014/main" id="{2B2C45A5-FEA1-A1DA-AB6C-4AA69911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644900"/>
            <a:ext cx="282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1905 – KODAK Brownie 3</a:t>
            </a:r>
          </a:p>
        </p:txBody>
      </p:sp>
      <p:pic>
        <p:nvPicPr>
          <p:cNvPr id="244748" name="Picture 12">
            <a:extLst>
              <a:ext uri="{FF2B5EF4-FFF2-40B4-BE49-F238E27FC236}">
                <a16:creationId xmlns:a16="http://schemas.microsoft.com/office/drawing/2014/main" id="{0A75EAA7-BF1F-EE5E-8A1A-5FE02684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106863"/>
            <a:ext cx="3529012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749" name="Picture 13">
            <a:extLst>
              <a:ext uri="{FF2B5EF4-FFF2-40B4-BE49-F238E27FC236}">
                <a16:creationId xmlns:a16="http://schemas.microsoft.com/office/drawing/2014/main" id="{7CE658BE-BFD6-5F43-E595-C58FAACF5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700213"/>
            <a:ext cx="3332162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4751" name="Rectangle 15">
            <a:extLst>
              <a:ext uri="{FF2B5EF4-FFF2-40B4-BE49-F238E27FC236}">
                <a16:creationId xmlns:a16="http://schemas.microsoft.com/office/drawing/2014/main" id="{3A44DD21-DEFD-144F-FF95-0DDE25BCF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6165850"/>
            <a:ext cx="348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1978 – Carl Zeiss Jena Praktica </a:t>
            </a:r>
          </a:p>
        </p:txBody>
      </p:sp>
      <p:sp>
        <p:nvSpPr>
          <p:cNvPr id="244752" name="Rectangle 16">
            <a:extLst>
              <a:ext uri="{FF2B5EF4-FFF2-40B4-BE49-F238E27FC236}">
                <a16:creationId xmlns:a16="http://schemas.microsoft.com/office/drawing/2014/main" id="{C7475878-5340-556E-660B-C44A6AC8A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5373688"/>
            <a:ext cx="1009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Flexaret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14C0D9B5-22D3-EA32-A1E1-80CFFDAA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4FE-94E3-4E22-9926-39CC010443AA}" type="slidenum">
              <a:rPr lang="cs-CZ" altLang="en-US"/>
              <a:pPr/>
              <a:t>6</a:t>
            </a:fld>
            <a:endParaRPr lang="cs-CZ" altLang="en-US"/>
          </a:p>
        </p:txBody>
      </p:sp>
      <p:sp>
        <p:nvSpPr>
          <p:cNvPr id="247810" name="Rectangle 2">
            <a:extLst>
              <a:ext uri="{FF2B5EF4-FFF2-40B4-BE49-F238E27FC236}">
                <a16:creationId xmlns:a16="http://schemas.microsoft.com/office/drawing/2014/main" id="{2FB13255-E2CB-937E-D8A7-5956FEB9C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Digitální fotoaparáty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4663D6FD-2817-6D95-751B-8796BF6FA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3178175" cy="3581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Obraz je zaznamenáván pomocí polovodičového  snímače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Zpracování obrazu je prováděno elektronicky</a:t>
            </a:r>
          </a:p>
        </p:txBody>
      </p:sp>
      <p:pic>
        <p:nvPicPr>
          <p:cNvPr id="247812" name="Picture 4">
            <a:extLst>
              <a:ext uri="{FF2B5EF4-FFF2-40B4-BE49-F238E27FC236}">
                <a16:creationId xmlns:a16="http://schemas.microsoft.com/office/drawing/2014/main" id="{B61CA5A7-6ECD-6A15-070B-CB06E4E3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916113"/>
            <a:ext cx="4679950" cy="437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7813" name="Rectangle 5">
            <a:extLst>
              <a:ext uri="{FF2B5EF4-FFF2-40B4-BE49-F238E27FC236}">
                <a16:creationId xmlns:a16="http://schemas.microsoft.com/office/drawing/2014/main" id="{7B492E61-8E30-6065-D070-546425523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6092825"/>
            <a:ext cx="363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1975 – KODAK, prototyp „digitálu“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1BDA2965-DA9B-1A07-86ED-A49848DE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EDC4-1718-4F6B-9F1F-55E674AE8F28}" type="slidenum">
              <a:rPr lang="cs-CZ" altLang="en-US"/>
              <a:pPr/>
              <a:t>7</a:t>
            </a:fld>
            <a:endParaRPr lang="cs-CZ" altLang="en-US"/>
          </a:p>
        </p:txBody>
      </p:sp>
      <p:sp>
        <p:nvSpPr>
          <p:cNvPr id="248836" name="Rectangle 4">
            <a:extLst>
              <a:ext uri="{FF2B5EF4-FFF2-40B4-BE49-F238E27FC236}">
                <a16:creationId xmlns:a16="http://schemas.microsoft.com/office/drawing/2014/main" id="{640E5B96-07B0-A99C-CA18-A288AC3E3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Digitální fotoaparáty</a:t>
            </a:r>
          </a:p>
        </p:txBody>
      </p:sp>
      <p:pic>
        <p:nvPicPr>
          <p:cNvPr id="248837" name="Picture 5">
            <a:extLst>
              <a:ext uri="{FF2B5EF4-FFF2-40B4-BE49-F238E27FC236}">
                <a16:creationId xmlns:a16="http://schemas.microsoft.com/office/drawing/2014/main" id="{6808CEDD-4AEC-660E-1C1C-8DABE208C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84313"/>
            <a:ext cx="3887787" cy="293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8838" name="Rectangle 6">
            <a:extLst>
              <a:ext uri="{FF2B5EF4-FFF2-40B4-BE49-F238E27FC236}">
                <a16:creationId xmlns:a16="http://schemas.microsoft.com/office/drawing/2014/main" id="{A744790D-C64A-35BF-67CC-897CF1B24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437063"/>
            <a:ext cx="238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1981 – SONY Mavica</a:t>
            </a:r>
          </a:p>
        </p:txBody>
      </p:sp>
      <p:pic>
        <p:nvPicPr>
          <p:cNvPr id="248839" name="Picture 7">
            <a:extLst>
              <a:ext uri="{FF2B5EF4-FFF2-40B4-BE49-F238E27FC236}">
                <a16:creationId xmlns:a16="http://schemas.microsoft.com/office/drawing/2014/main" id="{AC0FE8D5-5C17-E540-BF58-1B540F498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484313"/>
            <a:ext cx="3024187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8840" name="Picture 8">
            <a:extLst>
              <a:ext uri="{FF2B5EF4-FFF2-40B4-BE49-F238E27FC236}">
                <a16:creationId xmlns:a16="http://schemas.microsoft.com/office/drawing/2014/main" id="{849DEE81-3A8D-D3D7-5B9F-509E2D694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141663"/>
            <a:ext cx="295275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8841" name="Rectangle 9">
            <a:extLst>
              <a:ext uri="{FF2B5EF4-FFF2-40B4-BE49-F238E27FC236}">
                <a16:creationId xmlns:a16="http://schemas.microsoft.com/office/drawing/2014/main" id="{9FA7F3DD-F644-DC65-CF42-AA86C5C2A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084763"/>
            <a:ext cx="26352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1995 – Casio QV-10</a:t>
            </a:r>
          </a:p>
          <a:p>
            <a:r>
              <a:rPr lang="cs-CZ" altLang="cs-CZ"/>
              <a:t>První přístroj se </a:t>
            </a:r>
            <a:br>
              <a:rPr lang="cs-CZ" altLang="cs-CZ"/>
            </a:br>
            <a:r>
              <a:rPr lang="cs-CZ" altLang="cs-CZ"/>
              <a:t>zabudovaným displejem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D9B0030B-BA3A-D139-A2BE-8F154CD7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A087-E7F6-4E38-8852-F3F875E7E656}" type="slidenum">
              <a:rPr lang="cs-CZ" altLang="en-US"/>
              <a:pPr/>
              <a:t>8</a:t>
            </a:fld>
            <a:endParaRPr lang="cs-CZ" altLang="en-US"/>
          </a:p>
        </p:txBody>
      </p:sp>
      <p:sp>
        <p:nvSpPr>
          <p:cNvPr id="250882" name="Rectangle 2">
            <a:extLst>
              <a:ext uri="{FF2B5EF4-FFF2-40B4-BE49-F238E27FC236}">
                <a16:creationId xmlns:a16="http://schemas.microsoft.com/office/drawing/2014/main" id="{B50211F5-0524-B641-F40B-DA6A4138D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Digitální fotoaparáty</a:t>
            </a:r>
          </a:p>
        </p:txBody>
      </p:sp>
      <p:pic>
        <p:nvPicPr>
          <p:cNvPr id="250888" name="Picture 8">
            <a:extLst>
              <a:ext uri="{FF2B5EF4-FFF2-40B4-BE49-F238E27FC236}">
                <a16:creationId xmlns:a16="http://schemas.microsoft.com/office/drawing/2014/main" id="{70D23584-D2DB-DE87-9F73-547D8DB5A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3455987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0889" name="Rectangle 9">
            <a:extLst>
              <a:ext uri="{FF2B5EF4-FFF2-40B4-BE49-F238E27FC236}">
                <a16:creationId xmlns:a16="http://schemas.microsoft.com/office/drawing/2014/main" id="{7C6F0C0B-4D21-6BC4-6807-091855C3F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41888"/>
            <a:ext cx="309721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1991 – KODAK DCS-100 (NICON F3)</a:t>
            </a:r>
            <a:br>
              <a:rPr lang="cs-CZ" altLang="cs-CZ">
                <a:solidFill>
                  <a:schemeClr val="tx2"/>
                </a:solidFill>
              </a:rPr>
            </a:br>
            <a:r>
              <a:rPr lang="cs-CZ" altLang="cs-CZ">
                <a:solidFill>
                  <a:schemeClr val="tx2"/>
                </a:solidFill>
              </a:rPr>
              <a:t> </a:t>
            </a:r>
            <a:r>
              <a:rPr lang="cs-CZ" altLang="cs-CZ"/>
              <a:t>První digitální zrcadlovka</a:t>
            </a:r>
            <a:endParaRPr lang="cs-CZ" altLang="cs-CZ">
              <a:solidFill>
                <a:schemeClr val="tx2"/>
              </a:solidFill>
            </a:endParaRPr>
          </a:p>
        </p:txBody>
      </p:sp>
      <p:pic>
        <p:nvPicPr>
          <p:cNvPr id="250890" name="Picture 10">
            <a:extLst>
              <a:ext uri="{FF2B5EF4-FFF2-40B4-BE49-F238E27FC236}">
                <a16:creationId xmlns:a16="http://schemas.microsoft.com/office/drawing/2014/main" id="{D0B1A839-35D1-C64F-E7C2-C2DD4D3FF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852738"/>
            <a:ext cx="4572000" cy="305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0891" name="Rectangle 11">
            <a:extLst>
              <a:ext uri="{FF2B5EF4-FFF2-40B4-BE49-F238E27FC236}">
                <a16:creationId xmlns:a16="http://schemas.microsoft.com/office/drawing/2014/main" id="{BFF7E3AE-D8AD-8E15-ABEC-E82B21A7F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6092825"/>
            <a:ext cx="309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>
                <a:solidFill>
                  <a:schemeClr val="tx2"/>
                </a:solidFill>
              </a:rPr>
              <a:t>1998 – SONY Mavica FD71</a:t>
            </a:r>
          </a:p>
        </p:txBody>
      </p:sp>
      <p:sp>
        <p:nvSpPr>
          <p:cNvPr id="250892" name="Rectangle 12">
            <a:extLst>
              <a:ext uri="{FF2B5EF4-FFF2-40B4-BE49-F238E27FC236}">
                <a16:creationId xmlns:a16="http://schemas.microsoft.com/office/drawing/2014/main" id="{61B01299-CDFB-9143-410F-C8006C9AC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196975"/>
            <a:ext cx="2808288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cs-CZ" altLang="cs-CZ"/>
              <a:t>10x optický zoom</a:t>
            </a:r>
          </a:p>
          <a:p>
            <a:r>
              <a:rPr lang="cs-CZ" altLang="cs-CZ"/>
              <a:t>0.3Mpx (640 x 480 px)</a:t>
            </a:r>
          </a:p>
          <a:p>
            <a:r>
              <a:rPr lang="cs-CZ" altLang="cs-CZ"/>
              <a:t>zápis na 3.5“ disketu</a:t>
            </a:r>
          </a:p>
          <a:p>
            <a:r>
              <a:rPr lang="cs-CZ" altLang="cs-CZ"/>
              <a:t>1 fotka cca 50kB (3s)</a:t>
            </a:r>
          </a:p>
          <a:p>
            <a:r>
              <a:rPr lang="cs-CZ" altLang="cs-CZ"/>
              <a:t>cena asi 40.000Kč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A1480AB5-4E6B-8FC6-D38D-9D1D139B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A22B3-2461-41B5-A250-EE4F7A761AEB}" type="slidenum">
              <a:rPr lang="cs-CZ" altLang="en-US"/>
              <a:pPr/>
              <a:t>9</a:t>
            </a:fld>
            <a:endParaRPr lang="cs-CZ" altLang="en-US"/>
          </a:p>
        </p:txBody>
      </p:sp>
      <p:sp>
        <p:nvSpPr>
          <p:cNvPr id="251906" name="Rectangle 2">
            <a:extLst>
              <a:ext uri="{FF2B5EF4-FFF2-40B4-BE49-F238E27FC236}">
                <a16:creationId xmlns:a16="http://schemas.microsoft.com/office/drawing/2014/main" id="{38199F51-7766-4716-CBFA-E4EFB01CA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sz="3800"/>
              <a:t>Digitální fotoaparáty - rozdělení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E34FD71-0441-F181-9033-FD7301461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5267325" cy="48053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/>
              <a:t>kompakty</a:t>
            </a:r>
          </a:p>
          <a:p>
            <a:pPr>
              <a:lnSpc>
                <a:spcPct val="90000"/>
              </a:lnSpc>
            </a:pPr>
            <a:endParaRPr lang="cs-CZ" altLang="cs-CZ"/>
          </a:p>
          <a:p>
            <a:pPr>
              <a:lnSpc>
                <a:spcPct val="90000"/>
              </a:lnSpc>
            </a:pPr>
            <a:r>
              <a:rPr lang="cs-CZ" altLang="cs-CZ"/>
              <a:t>zrcadlovky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 SLR – </a:t>
            </a:r>
            <a:r>
              <a:rPr lang="cs-CZ" altLang="cs-CZ" i="1"/>
              <a:t>Single-lens reflex</a:t>
            </a:r>
            <a:r>
              <a:rPr lang="cs-CZ" altLang="cs-CZ"/>
              <a:t> 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 </a:t>
            </a:r>
            <a:r>
              <a:rPr lang="cs-CZ" altLang="cs-CZ" sz="2200" i="1">
                <a:solidFill>
                  <a:schemeClr val="bg2"/>
                </a:solidFill>
              </a:rPr>
              <a:t>nelze snímat videosekvence</a:t>
            </a:r>
          </a:p>
          <a:p>
            <a:pPr>
              <a:lnSpc>
                <a:spcPct val="90000"/>
              </a:lnSpc>
            </a:pPr>
            <a:endParaRPr lang="cs-CZ" altLang="cs-CZ"/>
          </a:p>
          <a:p>
            <a:pPr>
              <a:lnSpc>
                <a:spcPct val="90000"/>
              </a:lnSpc>
            </a:pPr>
            <a:r>
              <a:rPr lang="cs-CZ" altLang="cs-CZ"/>
              <a:t>digitální „falešné“ zrcadlovky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 dnešní „běžné digitální zrcadlovky“</a:t>
            </a:r>
          </a:p>
          <a:p>
            <a:pPr>
              <a:lnSpc>
                <a:spcPct val="90000"/>
              </a:lnSpc>
            </a:pPr>
            <a:endParaRPr lang="cs-CZ" altLang="cs-CZ"/>
          </a:p>
        </p:txBody>
      </p:sp>
      <p:pic>
        <p:nvPicPr>
          <p:cNvPr id="251908" name="Picture 4">
            <a:extLst>
              <a:ext uri="{FF2B5EF4-FFF2-40B4-BE49-F238E27FC236}">
                <a16:creationId xmlns:a16="http://schemas.microsoft.com/office/drawing/2014/main" id="{252B8E9A-8F70-7A0C-363B-E5D4B9D3D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88" y="1538288"/>
            <a:ext cx="15367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1909" name="Picture 5">
            <a:extLst>
              <a:ext uri="{FF2B5EF4-FFF2-40B4-BE49-F238E27FC236}">
                <a16:creationId xmlns:a16="http://schemas.microsoft.com/office/drawing/2014/main" id="{8119230C-F5A2-A68B-AB48-485C08B02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2133600"/>
            <a:ext cx="3092450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1910" name="Picture 6">
            <a:extLst>
              <a:ext uri="{FF2B5EF4-FFF2-40B4-BE49-F238E27FC236}">
                <a16:creationId xmlns:a16="http://schemas.microsoft.com/office/drawing/2014/main" id="{372CD7CB-2B75-1D99-8875-262910CB4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4616450"/>
            <a:ext cx="2520950" cy="188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5335D4BA-5390-CAFA-F07C-C5074A99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EAF0A-E5DB-4F44-8B45-8E8CDC09C81E}" type="slidenum">
              <a:rPr lang="cs-CZ" altLang="en-US"/>
              <a:pPr/>
              <a:t>10</a:t>
            </a:fld>
            <a:endParaRPr lang="cs-CZ" altLang="en-US"/>
          </a:p>
        </p:txBody>
      </p:sp>
      <p:sp>
        <p:nvSpPr>
          <p:cNvPr id="252933" name="Rectangle 5">
            <a:extLst>
              <a:ext uri="{FF2B5EF4-FFF2-40B4-BE49-F238E27FC236}">
                <a16:creationId xmlns:a16="http://schemas.microsoft.com/office/drawing/2014/main" id="{D9FC5FBC-6BCF-0B54-4DDC-CA023B03D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30275"/>
          </a:xfrm>
        </p:spPr>
        <p:txBody>
          <a:bodyPr/>
          <a:lstStyle/>
          <a:p>
            <a:r>
              <a:rPr lang="cs-CZ" altLang="cs-CZ"/>
              <a:t>Princip „zrcadlovky“</a:t>
            </a:r>
          </a:p>
        </p:txBody>
      </p:sp>
      <p:pic>
        <p:nvPicPr>
          <p:cNvPr id="252936" name="Picture 8">
            <a:hlinkClick r:id="rId2"/>
            <a:extLst>
              <a:ext uri="{FF2B5EF4-FFF2-40B4-BE49-F238E27FC236}">
                <a16:creationId xmlns:a16="http://schemas.microsoft.com/office/drawing/2014/main" id="{E2B85592-4723-2AB1-F064-06A6C8678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3" y="1460500"/>
            <a:ext cx="5959475" cy="4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2937" name="Text Box 9">
            <a:extLst>
              <a:ext uri="{FF2B5EF4-FFF2-40B4-BE49-F238E27FC236}">
                <a16:creationId xmlns:a16="http://schemas.microsoft.com/office/drawing/2014/main" id="{1DD5B537-ED61-EF4C-7768-3BDA49EAD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6400800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objektiv</a:t>
            </a:r>
          </a:p>
        </p:txBody>
      </p:sp>
      <p:sp>
        <p:nvSpPr>
          <p:cNvPr id="252938" name="Text Box 10">
            <a:extLst>
              <a:ext uri="{FF2B5EF4-FFF2-40B4-BE49-F238E27FC236}">
                <a16:creationId xmlns:a16="http://schemas.microsoft.com/office/drawing/2014/main" id="{4CBA7366-6866-4ABD-5351-A1984F801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38" y="6400800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zrcátko</a:t>
            </a:r>
          </a:p>
        </p:txBody>
      </p:sp>
      <p:sp>
        <p:nvSpPr>
          <p:cNvPr id="252939" name="Text Box 11">
            <a:extLst>
              <a:ext uri="{FF2B5EF4-FFF2-40B4-BE49-F238E27FC236}">
                <a16:creationId xmlns:a16="http://schemas.microsoft.com/office/drawing/2014/main" id="{A7D05CF8-643F-3AC7-D24F-FBB3E9E0A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463" y="5780088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snímač</a:t>
            </a:r>
          </a:p>
        </p:txBody>
      </p:sp>
      <p:sp>
        <p:nvSpPr>
          <p:cNvPr id="252940" name="Text Box 12">
            <a:extLst>
              <a:ext uri="{FF2B5EF4-FFF2-40B4-BE49-F238E27FC236}">
                <a16:creationId xmlns:a16="http://schemas.microsoft.com/office/drawing/2014/main" id="{8F9705BF-BEE9-2C4B-4FCD-D56CB46EB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025" y="6400800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závěrka</a:t>
            </a:r>
          </a:p>
        </p:txBody>
      </p:sp>
      <p:sp>
        <p:nvSpPr>
          <p:cNvPr id="252941" name="Text Box 13">
            <a:extLst>
              <a:ext uri="{FF2B5EF4-FFF2-40B4-BE49-F238E27FC236}">
                <a16:creationId xmlns:a16="http://schemas.microsoft.com/office/drawing/2014/main" id="{B146BDBC-3B28-4E05-C520-7E27EFE2F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1773238"/>
            <a:ext cx="242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čočka (dioptrie)</a:t>
            </a:r>
          </a:p>
        </p:txBody>
      </p:sp>
      <p:sp>
        <p:nvSpPr>
          <p:cNvPr id="252942" name="Text Box 14">
            <a:extLst>
              <a:ext uri="{FF2B5EF4-FFF2-40B4-BE49-F238E27FC236}">
                <a16:creationId xmlns:a16="http://schemas.microsoft.com/office/drawing/2014/main" id="{5F21206B-DCA6-6ACD-9F6B-0754074A8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449388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hranol</a:t>
            </a:r>
          </a:p>
        </p:txBody>
      </p:sp>
      <p:sp>
        <p:nvSpPr>
          <p:cNvPr id="252943" name="Text Box 15">
            <a:extLst>
              <a:ext uri="{FF2B5EF4-FFF2-40B4-BE49-F238E27FC236}">
                <a16:creationId xmlns:a16="http://schemas.microsoft.com/office/drawing/2014/main" id="{60E2DA53-C5B0-B246-4A12-8EB762F7F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2649538"/>
            <a:ext cx="101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čočka</a:t>
            </a:r>
          </a:p>
        </p:txBody>
      </p:sp>
      <p:sp>
        <p:nvSpPr>
          <p:cNvPr id="252944" name="Text Box 16">
            <a:extLst>
              <a:ext uri="{FF2B5EF4-FFF2-40B4-BE49-F238E27FC236}">
                <a16:creationId xmlns:a16="http://schemas.microsoft.com/office/drawing/2014/main" id="{9F57B312-6C34-572E-CC31-E3AB70ED5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" y="3278188"/>
            <a:ext cx="245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sklopené zrcátko</a:t>
            </a:r>
          </a:p>
        </p:txBody>
      </p:sp>
      <p:pic>
        <p:nvPicPr>
          <p:cNvPr id="252945" name="Picture 17">
            <a:extLst>
              <a:ext uri="{FF2B5EF4-FFF2-40B4-BE49-F238E27FC236}">
                <a16:creationId xmlns:a16="http://schemas.microsoft.com/office/drawing/2014/main" id="{197A9F59-81A5-A247-F4F5-590E50D64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525" y="3006725"/>
            <a:ext cx="20193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2946" name="Picture 18">
            <a:extLst>
              <a:ext uri="{FF2B5EF4-FFF2-40B4-BE49-F238E27FC236}">
                <a16:creationId xmlns:a16="http://schemas.microsoft.com/office/drawing/2014/main" id="{CAE82703-525A-2A92-C491-2B47F00E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0" y="2965450"/>
            <a:ext cx="2527300" cy="22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865D6048-741E-2B17-27FF-98C03627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6FBB-A53B-455D-8526-5C562870D6BE}" type="slidenum">
              <a:rPr lang="cs-CZ" altLang="en-US"/>
              <a:pPr/>
              <a:t>11</a:t>
            </a:fld>
            <a:endParaRPr lang="cs-CZ" altLang="en-US"/>
          </a:p>
        </p:txBody>
      </p:sp>
      <p:sp>
        <p:nvSpPr>
          <p:cNvPr id="256002" name="Rectangle 2">
            <a:extLst>
              <a:ext uri="{FF2B5EF4-FFF2-40B4-BE49-F238E27FC236}">
                <a16:creationId xmlns:a16="http://schemas.microsoft.com/office/drawing/2014/main" id="{C4F247E6-86CB-3A03-38AE-A854A8847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Objektivy</a:t>
            </a:r>
          </a:p>
        </p:txBody>
      </p:sp>
      <p:sp>
        <p:nvSpPr>
          <p:cNvPr id="256005" name="Text Box 5">
            <a:extLst>
              <a:ext uri="{FF2B5EF4-FFF2-40B4-BE49-F238E27FC236}">
                <a16:creationId xmlns:a16="http://schemas.microsoft.com/office/drawing/2014/main" id="{877C4CF5-6E66-8A6C-624B-139D33B52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48768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cs-CZ" altLang="cs-CZ" sz="2400">
                <a:latin typeface="Tahoma" panose="020B0604030504040204" pitchFamily="34" charset="0"/>
              </a:rPr>
              <a:t>pevný bez zoomu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endParaRPr lang="cs-CZ" altLang="cs-CZ" sz="240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cs-CZ" altLang="cs-CZ" sz="2400">
                <a:latin typeface="Tahoma" panose="020B0604030504040204" pitchFamily="34" charset="0"/>
              </a:rPr>
              <a:t>pevný se zoomem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endParaRPr lang="cs-CZ" altLang="cs-CZ" sz="240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lang="cs-CZ" altLang="cs-CZ" sz="2400">
                <a:latin typeface="Tahoma" panose="020B0604030504040204" pitchFamily="34" charset="0"/>
              </a:rPr>
              <a:t>výměnný (nejčastěji se zoomem)</a:t>
            </a:r>
          </a:p>
        </p:txBody>
      </p:sp>
      <p:pic>
        <p:nvPicPr>
          <p:cNvPr id="256006" name="Picture 6">
            <a:extLst>
              <a:ext uri="{FF2B5EF4-FFF2-40B4-BE49-F238E27FC236}">
                <a16:creationId xmlns:a16="http://schemas.microsoft.com/office/drawing/2014/main" id="{D2383362-DF15-7D72-F0A9-8551FC783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557338"/>
            <a:ext cx="273685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07" name="Picture 7">
            <a:extLst>
              <a:ext uri="{FF2B5EF4-FFF2-40B4-BE49-F238E27FC236}">
                <a16:creationId xmlns:a16="http://schemas.microsoft.com/office/drawing/2014/main" id="{CC9CA9CE-57B4-A1FD-7542-4CF00A062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773238"/>
            <a:ext cx="2800350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08" name="Picture 8">
            <a:extLst>
              <a:ext uri="{FF2B5EF4-FFF2-40B4-BE49-F238E27FC236}">
                <a16:creationId xmlns:a16="http://schemas.microsoft.com/office/drawing/2014/main" id="{2B41AEFB-D522-6F42-7490-65FCA7AB3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4005263"/>
            <a:ext cx="316230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09" name="Picture 9">
            <a:extLst>
              <a:ext uri="{FF2B5EF4-FFF2-40B4-BE49-F238E27FC236}">
                <a16:creationId xmlns:a16="http://schemas.microsoft.com/office/drawing/2014/main" id="{2E7C048F-DFAF-06E3-2317-D7CD56B82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81600"/>
            <a:ext cx="16002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10" name="Picture 10">
            <a:extLst>
              <a:ext uri="{FF2B5EF4-FFF2-40B4-BE49-F238E27FC236}">
                <a16:creationId xmlns:a16="http://schemas.microsoft.com/office/drawing/2014/main" id="{2C1753C5-8646-A3C4-2432-AE1E6BBEA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953000"/>
            <a:ext cx="22860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11" name="Text Box 11">
            <a:extLst>
              <a:ext uri="{FF2B5EF4-FFF2-40B4-BE49-F238E27FC236}">
                <a16:creationId xmlns:a16="http://schemas.microsoft.com/office/drawing/2014/main" id="{EFFDF046-B347-ADDE-9B67-A2222F41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343275"/>
            <a:ext cx="1658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kompakty</a:t>
            </a:r>
          </a:p>
        </p:txBody>
      </p:sp>
      <p:sp>
        <p:nvSpPr>
          <p:cNvPr id="256012" name="Text Box 12">
            <a:extLst>
              <a:ext uri="{FF2B5EF4-FFF2-40B4-BE49-F238E27FC236}">
                <a16:creationId xmlns:a16="http://schemas.microsoft.com/office/drawing/2014/main" id="{B340BE01-4470-CC0E-B5AC-89B85D043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6092825"/>
            <a:ext cx="161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400">
                <a:solidFill>
                  <a:schemeClr val="hlink"/>
                </a:solidFill>
                <a:latin typeface="Tahoma" panose="020B0604030504040204" pitchFamily="34" charset="0"/>
              </a:rPr>
              <a:t>zrcadlovky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022076F-A24C-4B55-8133-167CC629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1A8A6-692A-458A-A1DB-83A0C6FA1A93}" type="slidenum">
              <a:rPr lang="cs-CZ" altLang="en-US"/>
              <a:pPr/>
              <a:t>12</a:t>
            </a:fld>
            <a:endParaRPr lang="cs-CZ" altLang="en-US"/>
          </a:p>
        </p:txBody>
      </p:sp>
      <p:sp>
        <p:nvSpPr>
          <p:cNvPr id="257026" name="Rectangle 2">
            <a:extLst>
              <a:ext uri="{FF2B5EF4-FFF2-40B4-BE49-F238E27FC236}">
                <a16:creationId xmlns:a16="http://schemas.microsoft.com/office/drawing/2014/main" id="{1BA8DE2D-FCC1-F366-49B0-0D109441D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Přiblížení - ZOOM</a:t>
            </a:r>
          </a:p>
        </p:txBody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1760C2C1-5FBD-89A1-D967-898E505ED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502150"/>
          </a:xfrm>
        </p:spPr>
        <p:txBody>
          <a:bodyPr/>
          <a:lstStyle/>
          <a:p>
            <a:r>
              <a:rPr lang="cs-CZ" altLang="cs-CZ" b="1">
                <a:solidFill>
                  <a:schemeClr val="accent2"/>
                </a:solidFill>
              </a:rPr>
              <a:t>Optický</a:t>
            </a:r>
          </a:p>
          <a:p>
            <a:pPr lvl="1"/>
            <a:r>
              <a:rPr lang="cs-CZ" altLang="cs-CZ" sz="2400"/>
              <a:t>je realizován dán pohybem čoček v objektivu.</a:t>
            </a:r>
          </a:p>
          <a:p>
            <a:pPr lvl="1"/>
            <a:r>
              <a:rPr lang="cs-CZ" altLang="cs-CZ" sz="2400"/>
              <a:t>nemění se kvalita obrazu </a:t>
            </a:r>
            <a:r>
              <a:rPr lang="cs-CZ" altLang="cs-CZ" sz="2000"/>
              <a:t>(až na chromatické vady čoček)</a:t>
            </a:r>
          </a:p>
          <a:p>
            <a:pPr lvl="1"/>
            <a:r>
              <a:rPr lang="cs-CZ" altLang="cs-CZ" sz="2400"/>
              <a:t>u běžných fotoaparátů 2x -10x.</a:t>
            </a:r>
          </a:p>
          <a:p>
            <a:r>
              <a:rPr lang="cs-CZ" altLang="cs-CZ" b="1">
                <a:solidFill>
                  <a:schemeClr val="accent2"/>
                </a:solidFill>
              </a:rPr>
              <a:t>Digitální</a:t>
            </a:r>
          </a:p>
          <a:p>
            <a:pPr lvl="1"/>
            <a:r>
              <a:rPr lang="cs-CZ" altLang="cs-CZ" sz="2400"/>
              <a:t>lákadlo na „neznalé“ zákazníky.</a:t>
            </a:r>
          </a:p>
          <a:p>
            <a:pPr lvl="1"/>
            <a:r>
              <a:rPr lang="cs-CZ" altLang="cs-CZ" sz="2400"/>
              <a:t>softwarové „zvětšení“ obrazu v elektronice fotoaparátu - vyříznutí středu a zvětšení na celou plochu. </a:t>
            </a:r>
          </a:p>
          <a:p>
            <a:pPr lvl="1"/>
            <a:r>
              <a:rPr lang="cs-CZ" altLang="cs-CZ" sz="2400"/>
              <a:t>zhoršuje se kvalita obrazu (v extrému pixelizace) </a:t>
            </a:r>
          </a:p>
          <a:p>
            <a:pPr lvl="1"/>
            <a:r>
              <a:rPr lang="cs-CZ" altLang="cs-CZ" sz="2400"/>
              <a:t>prakticky to samé lze udělat v grafickém editoru.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73D3C21A-CE6F-B66B-D03B-F5AB993B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DDC2-6D86-4399-B1C0-A24B2E18E75D}" type="slidenum">
              <a:rPr lang="cs-CZ" altLang="en-US"/>
              <a:pPr/>
              <a:t>13</a:t>
            </a:fld>
            <a:endParaRPr lang="cs-CZ" altLang="en-US"/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D01CE0FF-7E36-2EFE-D78F-C9410200D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Přiblížení – ZOOM (ukázka)</a:t>
            </a:r>
          </a:p>
        </p:txBody>
      </p:sp>
      <p:sp>
        <p:nvSpPr>
          <p:cNvPr id="258054" name="Text Box 6">
            <a:extLst>
              <a:ext uri="{FF2B5EF4-FFF2-40B4-BE49-F238E27FC236}">
                <a16:creationId xmlns:a16="http://schemas.microsoft.com/office/drawing/2014/main" id="{2D06B546-A41C-A5BA-76C4-6BC21E1B8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62400"/>
            <a:ext cx="198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b="1">
                <a:latin typeface="Tahoma" panose="020B0604030504040204" pitchFamily="34" charset="0"/>
              </a:rPr>
              <a:t>1x (bez zoomu)</a:t>
            </a:r>
          </a:p>
        </p:txBody>
      </p:sp>
      <p:pic>
        <p:nvPicPr>
          <p:cNvPr id="258055" name="Picture 7">
            <a:extLst>
              <a:ext uri="{FF2B5EF4-FFF2-40B4-BE49-F238E27FC236}">
                <a16:creationId xmlns:a16="http://schemas.microsoft.com/office/drawing/2014/main" id="{21D37AC4-E9DD-031A-7461-53F099E7D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2927350" cy="21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8056" name="Picture 8">
            <a:extLst>
              <a:ext uri="{FF2B5EF4-FFF2-40B4-BE49-F238E27FC236}">
                <a16:creationId xmlns:a16="http://schemas.microsoft.com/office/drawing/2014/main" id="{34281216-ED19-8EC7-3D95-CDB68BD5D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743200"/>
            <a:ext cx="2927350" cy="21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8057" name="Picture 9">
            <a:extLst>
              <a:ext uri="{FF2B5EF4-FFF2-40B4-BE49-F238E27FC236}">
                <a16:creationId xmlns:a16="http://schemas.microsoft.com/office/drawing/2014/main" id="{669F5C66-4DD8-FBFB-7339-D11840026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91000"/>
            <a:ext cx="2927350" cy="219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8058" name="Text Box 10">
            <a:extLst>
              <a:ext uri="{FF2B5EF4-FFF2-40B4-BE49-F238E27FC236}">
                <a16:creationId xmlns:a16="http://schemas.microsoft.com/office/drawing/2014/main" id="{CB5693BB-15DB-F902-C89C-1CF666D2F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95300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b="1">
                <a:latin typeface="Tahoma" panose="020B0604030504040204" pitchFamily="34" charset="0"/>
              </a:rPr>
              <a:t>3x</a:t>
            </a:r>
          </a:p>
        </p:txBody>
      </p:sp>
      <p:sp>
        <p:nvSpPr>
          <p:cNvPr id="258059" name="Text Box 11">
            <a:extLst>
              <a:ext uri="{FF2B5EF4-FFF2-40B4-BE49-F238E27FC236}">
                <a16:creationId xmlns:a16="http://schemas.microsoft.com/office/drawing/2014/main" id="{865C5A82-A93D-381A-1FB4-26389EEFC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825" y="3709988"/>
            <a:ext cx="83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b="1">
                <a:latin typeface="Tahoma" panose="020B0604030504040204" pitchFamily="34" charset="0"/>
              </a:rPr>
              <a:t>12x</a:t>
            </a:r>
          </a:p>
        </p:txBody>
      </p:sp>
      <p:pic>
        <p:nvPicPr>
          <p:cNvPr id="258060" name="Picture 12">
            <a:extLst>
              <a:ext uri="{FF2B5EF4-FFF2-40B4-BE49-F238E27FC236}">
                <a16:creationId xmlns:a16="http://schemas.microsoft.com/office/drawing/2014/main" id="{21683B89-FFF5-3FC4-C2F7-FB1527DCF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0" y="1455738"/>
            <a:ext cx="28575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8061" name="Text Box 13">
            <a:extLst>
              <a:ext uri="{FF2B5EF4-FFF2-40B4-BE49-F238E27FC236}">
                <a16:creationId xmlns:a16="http://schemas.microsoft.com/office/drawing/2014/main" id="{4718CC3F-AA4F-84B6-05D5-3B8B0BC9F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528763"/>
            <a:ext cx="1584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b="1">
                <a:latin typeface="Tahoma" panose="020B0604030504040204" pitchFamily="34" charset="0"/>
              </a:rPr>
              <a:t>DIGITÁLNÍ</a:t>
            </a:r>
          </a:p>
        </p:txBody>
      </p:sp>
      <p:sp>
        <p:nvSpPr>
          <p:cNvPr id="258062" name="Text Box 14">
            <a:extLst>
              <a:ext uri="{FF2B5EF4-FFF2-40B4-BE49-F238E27FC236}">
                <a16:creationId xmlns:a16="http://schemas.microsoft.com/office/drawing/2014/main" id="{C471F479-EB5F-E401-6371-76F1F1C9B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4508500"/>
            <a:ext cx="1368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b="1">
                <a:latin typeface="Tahoma" panose="020B0604030504040204" pitchFamily="34" charset="0"/>
              </a:rPr>
              <a:t>OPTICKÝ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125721AC-DEE7-7009-20D7-15C0CBEB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593C0-6D13-493F-8580-3A4B525EA9DE}" type="slidenum">
              <a:rPr lang="cs-CZ" altLang="en-US"/>
              <a:pPr/>
              <a:t>14</a:t>
            </a:fld>
            <a:endParaRPr lang="cs-CZ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7B35657C-2ABE-FD5A-A6C1-E97EF5A87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Ostření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1A50B0C8-2DAD-8C4D-F7BC-5C94FFA91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7513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b="1">
                <a:solidFill>
                  <a:schemeClr val="accent2"/>
                </a:solidFill>
              </a:rPr>
              <a:t>fixfocus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čočka je napevno - neostří se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vše od cca 2 m je ostré</a:t>
            </a:r>
            <a:endParaRPr lang="cs-CZ" altLang="cs-CZ" sz="1500"/>
          </a:p>
          <a:p>
            <a:pPr>
              <a:lnSpc>
                <a:spcPct val="90000"/>
              </a:lnSpc>
            </a:pPr>
            <a:r>
              <a:rPr lang="cs-CZ" altLang="cs-CZ" b="1">
                <a:solidFill>
                  <a:schemeClr val="accent2"/>
                </a:solidFill>
              </a:rPr>
              <a:t>autofocus... AF</a:t>
            </a:r>
          </a:p>
          <a:p>
            <a:pPr lvl="1">
              <a:lnSpc>
                <a:spcPct val="90000"/>
              </a:lnSpc>
            </a:pPr>
            <a:r>
              <a:rPr lang="cs-CZ" altLang="cs-CZ" sz="2200" b="1"/>
              <a:t>aktivní</a:t>
            </a:r>
            <a:r>
              <a:rPr lang="cs-CZ" altLang="cs-CZ" sz="2200"/>
              <a:t>... „IR paprsek zjistí vzdálenost“</a:t>
            </a:r>
          </a:p>
          <a:p>
            <a:pPr lvl="1">
              <a:lnSpc>
                <a:spcPct val="90000"/>
              </a:lnSpc>
            </a:pPr>
            <a:r>
              <a:rPr lang="cs-CZ" altLang="cs-CZ" sz="2200" b="1"/>
              <a:t>pasivní</a:t>
            </a:r>
            <a:r>
              <a:rPr lang="cs-CZ" altLang="cs-CZ" sz="2200"/>
              <a:t>... ostří na základě kontrastu barev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realizuje se pohybem čočky nebo snímače</a:t>
            </a:r>
            <a:endParaRPr lang="cs-CZ" altLang="cs-CZ" sz="1500"/>
          </a:p>
          <a:p>
            <a:pPr>
              <a:lnSpc>
                <a:spcPct val="90000"/>
              </a:lnSpc>
            </a:pPr>
            <a:r>
              <a:rPr lang="cs-CZ" altLang="cs-CZ" b="1">
                <a:solidFill>
                  <a:schemeClr val="accent2"/>
                </a:solidFill>
              </a:rPr>
              <a:t>manual focus... MF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ruční nebo motorový pohyb ostřících čoček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převážně u dražších fotoaparátů</a:t>
            </a:r>
          </a:p>
          <a:p>
            <a:pPr lvl="1">
              <a:lnSpc>
                <a:spcPct val="90000"/>
              </a:lnSpc>
            </a:pPr>
            <a:r>
              <a:rPr lang="cs-CZ" altLang="cs-CZ" sz="2200" i="1">
                <a:solidFill>
                  <a:schemeClr val="bg2"/>
                </a:solidFill>
              </a:rPr>
              <a:t>neplést se ZOOMem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647C4EEB-DF29-7DBA-9770-854CA71FB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454E1-BCA5-4898-B552-9C34638D3856}" type="slidenum">
              <a:rPr lang="cs-CZ" altLang="en-US"/>
              <a:pPr/>
              <a:t>15</a:t>
            </a:fld>
            <a:endParaRPr lang="cs-CZ" altLang="en-US"/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B9D018C4-F473-8705-E9DF-71FA70058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Stabilizace obrazu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5823860B-2C2F-CFB7-E82A-12AAED710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Jde o vyrovnání chvění fotoaparátu (rukou). 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Dříve u dražších aparátů, dnes i u střední třídy.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U velkých ZOOMů nutnost.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Je realizován „protipohybem“ </a:t>
            </a:r>
            <a:br>
              <a:rPr lang="cs-CZ" altLang="cs-CZ" sz="2600"/>
            </a:br>
            <a:r>
              <a:rPr lang="cs-CZ" altLang="cs-CZ" sz="2600"/>
              <a:t>v optické soustavě:</a:t>
            </a:r>
          </a:p>
          <a:p>
            <a:pPr lvl="1">
              <a:lnSpc>
                <a:spcPct val="90000"/>
              </a:lnSpc>
            </a:pPr>
            <a:r>
              <a:rPr lang="cs-CZ" altLang="cs-CZ">
                <a:solidFill>
                  <a:schemeClr val="bg2"/>
                </a:solidFill>
              </a:rPr>
              <a:t>pohyb čoček </a:t>
            </a:r>
            <a:br>
              <a:rPr lang="cs-CZ" altLang="cs-CZ">
                <a:solidFill>
                  <a:schemeClr val="bg2"/>
                </a:solidFill>
              </a:rPr>
            </a:br>
            <a:r>
              <a:rPr lang="cs-CZ" altLang="cs-CZ">
                <a:solidFill>
                  <a:schemeClr val="bg2"/>
                </a:solidFill>
              </a:rPr>
              <a:t>(Panasonic, SONY)</a:t>
            </a:r>
          </a:p>
          <a:p>
            <a:pPr lvl="1">
              <a:lnSpc>
                <a:spcPct val="90000"/>
              </a:lnSpc>
            </a:pPr>
            <a:r>
              <a:rPr lang="cs-CZ" altLang="cs-CZ">
                <a:solidFill>
                  <a:schemeClr val="bg2"/>
                </a:solidFill>
              </a:rPr>
              <a:t>mikropohyb snímače </a:t>
            </a:r>
            <a:br>
              <a:rPr lang="cs-CZ" altLang="cs-CZ">
                <a:solidFill>
                  <a:schemeClr val="bg2"/>
                </a:solidFill>
              </a:rPr>
            </a:br>
            <a:r>
              <a:rPr lang="cs-CZ" altLang="cs-CZ">
                <a:solidFill>
                  <a:schemeClr val="bg2"/>
                </a:solidFill>
              </a:rPr>
              <a:t>v magnetickém poli </a:t>
            </a:r>
            <a:br>
              <a:rPr lang="cs-CZ" altLang="cs-CZ">
                <a:solidFill>
                  <a:schemeClr val="bg2"/>
                </a:solidFill>
              </a:rPr>
            </a:br>
            <a:r>
              <a:rPr lang="cs-CZ" altLang="cs-CZ">
                <a:solidFill>
                  <a:schemeClr val="bg2"/>
                </a:solidFill>
              </a:rPr>
              <a:t>(Minolta, Pentax)</a:t>
            </a:r>
          </a:p>
        </p:txBody>
      </p:sp>
      <p:pic>
        <p:nvPicPr>
          <p:cNvPr id="261124" name="Picture 4">
            <a:extLst>
              <a:ext uri="{FF2B5EF4-FFF2-40B4-BE49-F238E27FC236}">
                <a16:creationId xmlns:a16="http://schemas.microsoft.com/office/drawing/2014/main" id="{41A9D857-23EF-80E1-C338-91C9ED9EB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573463"/>
            <a:ext cx="3959225" cy="25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E73A8740-01D0-4D22-324F-80DF93BB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E797-4F14-44A2-97AB-A45023736DF2}" type="slidenum">
              <a:rPr lang="cs-CZ" altLang="en-US"/>
              <a:pPr/>
              <a:t>16</a:t>
            </a:fld>
            <a:endParaRPr lang="cs-CZ" altLang="en-US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93D2A825-C4D7-6677-EE05-74F7A48AC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Snímací prvek	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6A3FCB95-9CA9-F0BB-F710-3C50B999E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CCD nebo CMOS snímač. </a:t>
            </a:r>
          </a:p>
          <a:p>
            <a:r>
              <a:rPr lang="cs-CZ" altLang="cs-CZ"/>
              <a:t>Je polovodičová součástka přeměňující světlo na elektrické signály – data.</a:t>
            </a:r>
          </a:p>
          <a:p>
            <a:r>
              <a:rPr lang="cs-CZ" altLang="cs-CZ"/>
              <a:t>Základní parametry:</a:t>
            </a:r>
          </a:p>
          <a:p>
            <a:pPr lvl="1"/>
            <a:r>
              <a:rPr lang="cs-CZ" altLang="cs-CZ"/>
              <a:t>poměr stran: negativ 3:2, </a:t>
            </a:r>
            <a:br>
              <a:rPr lang="cs-CZ" altLang="cs-CZ"/>
            </a:br>
            <a:r>
              <a:rPr lang="cs-CZ" altLang="cs-CZ">
                <a:solidFill>
                  <a:srgbClr val="0000FF"/>
                </a:solidFill>
              </a:rPr>
              <a:t>čip 4:3</a:t>
            </a:r>
            <a:r>
              <a:rPr lang="cs-CZ" altLang="cs-CZ"/>
              <a:t> </a:t>
            </a:r>
            <a:r>
              <a:rPr lang="cs-CZ" altLang="cs-CZ">
                <a:solidFill>
                  <a:schemeClr val="bg2"/>
                </a:solidFill>
              </a:rPr>
              <a:t>(3:2, 16:9)</a:t>
            </a:r>
          </a:p>
          <a:p>
            <a:pPr lvl="1"/>
            <a:r>
              <a:rPr lang="cs-CZ" altLang="cs-CZ"/>
              <a:t>rychlost snímání </a:t>
            </a:r>
            <a:r>
              <a:rPr lang="cs-CZ" altLang="cs-CZ">
                <a:solidFill>
                  <a:schemeClr val="bg2"/>
                </a:solidFill>
              </a:rPr>
              <a:t>(cache)</a:t>
            </a:r>
          </a:p>
          <a:p>
            <a:pPr lvl="1"/>
            <a:r>
              <a:rPr lang="cs-CZ" altLang="cs-CZ"/>
              <a:t>počet bodů – pixelů</a:t>
            </a:r>
          </a:p>
          <a:p>
            <a:pPr lvl="1"/>
            <a:r>
              <a:rPr lang="cs-CZ" altLang="cs-CZ"/>
              <a:t>(0.3) 1 až </a:t>
            </a:r>
            <a:r>
              <a:rPr lang="en-US" altLang="cs-CZ">
                <a:cs typeface="Tahoma" panose="020B0604030504040204" pitchFamily="34" charset="0"/>
              </a:rPr>
              <a:t>~</a:t>
            </a:r>
            <a:r>
              <a:rPr lang="cs-CZ" altLang="cs-CZ"/>
              <a:t>10Mpx...</a:t>
            </a:r>
          </a:p>
          <a:p>
            <a:pPr lvl="1"/>
            <a:endParaRPr lang="cs-CZ" altLang="cs-CZ"/>
          </a:p>
        </p:txBody>
      </p:sp>
      <p:pic>
        <p:nvPicPr>
          <p:cNvPr id="262148" name="Picture 4">
            <a:extLst>
              <a:ext uri="{FF2B5EF4-FFF2-40B4-BE49-F238E27FC236}">
                <a16:creationId xmlns:a16="http://schemas.microsoft.com/office/drawing/2014/main" id="{11E2F21F-D543-29B5-6B6A-AF0E9A420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500438"/>
            <a:ext cx="3487738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E0FB076-C4D1-ACA6-5053-07AB29A9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C9DD-E76C-4733-9661-881EE6671033}" type="slidenum">
              <a:rPr lang="cs-CZ" altLang="en-US"/>
              <a:pPr/>
              <a:t>17</a:t>
            </a:fld>
            <a:endParaRPr lang="cs-CZ" altLang="en-US"/>
          </a:p>
        </p:txBody>
      </p:sp>
      <p:sp>
        <p:nvSpPr>
          <p:cNvPr id="263206" name="Rectangle 38">
            <a:extLst>
              <a:ext uri="{FF2B5EF4-FFF2-40B4-BE49-F238E27FC236}">
                <a16:creationId xmlns:a16="http://schemas.microsoft.com/office/drawing/2014/main" id="{641BA8A3-2B93-10EB-8361-7479D7AB2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Velikosti fotografií (300dpi)</a:t>
            </a:r>
          </a:p>
        </p:txBody>
      </p:sp>
      <p:graphicFrame>
        <p:nvGraphicFramePr>
          <p:cNvPr id="263269" name="Group 101">
            <a:extLst>
              <a:ext uri="{FF2B5EF4-FFF2-40B4-BE49-F238E27FC236}">
                <a16:creationId xmlns:a16="http://schemas.microsoft.com/office/drawing/2014/main" id="{6F916C71-4E6D-2554-1B4D-BA57FF2F65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719263"/>
          <a:ext cx="8229600" cy="4230687"/>
        </p:xfrm>
        <a:graphic>
          <a:graphicData uri="http://schemas.openxmlformats.org/drawingml/2006/table">
            <a:tbl>
              <a:tblPr/>
              <a:tblGrid>
                <a:gridCol w="2097088">
                  <a:extLst>
                    <a:ext uri="{9D8B030D-6E8A-4147-A177-3AD203B41FA5}">
                      <a16:colId xmlns:a16="http://schemas.microsoft.com/office/drawing/2014/main" val="3070055816"/>
                    </a:ext>
                  </a:extLst>
                </a:gridCol>
                <a:gridCol w="3711575">
                  <a:extLst>
                    <a:ext uri="{9D8B030D-6E8A-4147-A177-3AD203B41FA5}">
                      <a16:colId xmlns:a16="http://schemas.microsoft.com/office/drawing/2014/main" val="764724529"/>
                    </a:ext>
                  </a:extLst>
                </a:gridCol>
                <a:gridCol w="2420937">
                  <a:extLst>
                    <a:ext uri="{9D8B030D-6E8A-4147-A177-3AD203B41FA5}">
                      <a16:colId xmlns:a16="http://schemas.microsoft.com/office/drawing/2014/main" val="816827399"/>
                    </a:ext>
                  </a:extLst>
                </a:gridCol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Počet bodů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Rozlišení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Formát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269105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1.3 Mpx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1280 x 960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x 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091125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2.11 Mpx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1600 x 1200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 x 10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42565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3.34 Mpx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2048 x 1536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 x 13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849622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4.14 Mpx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2272 x 1704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 x 14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841091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5.24 Mpx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2568 x 1928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 x 16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984576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6.52 Mpx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3072 x 2048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23 x 17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927823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16.7 Mpx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4992 x 3328 px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cs-CZ" altLang="cs-CZ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42 x 28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4163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33206553-913B-1129-2C3A-03934E96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B4FE5-F445-4C4F-93FC-4F921DFF4CD6}" type="slidenum">
              <a:rPr lang="cs-CZ" altLang="en-US"/>
              <a:pPr/>
              <a:t>18</a:t>
            </a:fld>
            <a:endParaRPr lang="cs-CZ" altLang="en-US"/>
          </a:p>
        </p:txBody>
      </p:sp>
      <p:sp>
        <p:nvSpPr>
          <p:cNvPr id="270338" name="Rectangle 2">
            <a:extLst>
              <a:ext uri="{FF2B5EF4-FFF2-40B4-BE49-F238E27FC236}">
                <a16:creationId xmlns:a16="http://schemas.microsoft.com/office/drawing/2014/main" id="{FE8CF5C2-7245-02FA-B2FA-4DE7CE882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Uložiště dat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B18836D2-08DC-5A3C-A94B-32BFCEDEF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30051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/>
              <a:t>Vnitřní paměť (</a:t>
            </a:r>
            <a:r>
              <a:rPr lang="en-US" altLang="cs-CZ"/>
              <a:t>~</a:t>
            </a:r>
            <a:r>
              <a:rPr lang="cs-CZ" altLang="cs-CZ"/>
              <a:t>10MB)</a:t>
            </a:r>
          </a:p>
          <a:p>
            <a:pPr>
              <a:lnSpc>
                <a:spcPct val="90000"/>
              </a:lnSpc>
            </a:pPr>
            <a:r>
              <a:rPr lang="cs-CZ" altLang="cs-CZ"/>
              <a:t>Paměťové karty (</a:t>
            </a:r>
            <a:r>
              <a:rPr lang="en-US" altLang="cs-CZ">
                <a:cs typeface="Tahoma" panose="020B0604030504040204" pitchFamily="34" charset="0"/>
              </a:rPr>
              <a:t>~</a:t>
            </a:r>
            <a:r>
              <a:rPr lang="cs-CZ" altLang="cs-CZ">
                <a:cs typeface="Tahoma" panose="020B0604030504040204" pitchFamily="34" charset="0"/>
              </a:rPr>
              <a:t>100MB až GB) </a:t>
            </a:r>
            <a:br>
              <a:rPr lang="cs-CZ" altLang="cs-CZ">
                <a:cs typeface="Tahoma" panose="020B0604030504040204" pitchFamily="34" charset="0"/>
              </a:rPr>
            </a:br>
            <a:r>
              <a:rPr lang="cs-CZ" altLang="cs-CZ">
                <a:cs typeface="Tahoma" panose="020B0604030504040204" pitchFamily="34" charset="0"/>
              </a:rPr>
              <a:t>parametry:</a:t>
            </a:r>
          </a:p>
          <a:p>
            <a:pPr lvl="1">
              <a:lnSpc>
                <a:spcPct val="90000"/>
              </a:lnSpc>
            </a:pPr>
            <a:r>
              <a:rPr lang="cs-CZ" altLang="cs-CZ" b="1">
                <a:solidFill>
                  <a:schemeClr val="accent2"/>
                </a:solidFill>
                <a:cs typeface="Tahoma" panose="020B0604030504040204" pitchFamily="34" charset="0"/>
              </a:rPr>
              <a:t>typ karty:</a:t>
            </a:r>
            <a:r>
              <a:rPr lang="cs-CZ" altLang="cs-CZ">
                <a:cs typeface="Tahoma" panose="020B0604030504040204" pitchFamily="34" charset="0"/>
              </a:rPr>
              <a:t> </a:t>
            </a:r>
            <a:br>
              <a:rPr lang="cs-CZ" altLang="cs-CZ">
                <a:cs typeface="Tahoma" panose="020B0604030504040204" pitchFamily="34" charset="0"/>
              </a:rPr>
            </a:br>
            <a:r>
              <a:rPr lang="cs-CZ" altLang="cs-CZ">
                <a:solidFill>
                  <a:schemeClr val="bg2"/>
                </a:solidFill>
                <a:cs typeface="Tahoma" panose="020B0604030504040204" pitchFamily="34" charset="0"/>
              </a:rPr>
              <a:t>SD, RS-MMC, MMC, xD, MS, </a:t>
            </a:r>
            <a:r>
              <a:rPr lang="cs-CZ" altLang="cs-CZ">
                <a:solidFill>
                  <a:schemeClr val="bg2"/>
                </a:solidFill>
              </a:rPr>
              <a:t>CompactFlash, MemoryStick (Pro), SmartMedia, T-Flash,...</a:t>
            </a:r>
          </a:p>
          <a:p>
            <a:pPr lvl="1">
              <a:lnSpc>
                <a:spcPct val="90000"/>
              </a:lnSpc>
            </a:pPr>
            <a:r>
              <a:rPr lang="cs-CZ" altLang="cs-CZ" b="1">
                <a:solidFill>
                  <a:schemeClr val="accent2"/>
                </a:solidFill>
                <a:cs typeface="Tahoma" panose="020B0604030504040204" pitchFamily="34" charset="0"/>
              </a:rPr>
              <a:t>rychlost zápisu a čtení</a:t>
            </a:r>
            <a:endParaRPr lang="cs-CZ" altLang="cs-CZ"/>
          </a:p>
        </p:txBody>
      </p:sp>
      <p:pic>
        <p:nvPicPr>
          <p:cNvPr id="270349" name="Picture 13">
            <a:extLst>
              <a:ext uri="{FF2B5EF4-FFF2-40B4-BE49-F238E27FC236}">
                <a16:creationId xmlns:a16="http://schemas.microsoft.com/office/drawing/2014/main" id="{1C79773B-AC7D-8EA1-61B7-7508FD7A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661025"/>
            <a:ext cx="1033463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50" name="Picture 14">
            <a:extLst>
              <a:ext uri="{FF2B5EF4-FFF2-40B4-BE49-F238E27FC236}">
                <a16:creationId xmlns:a16="http://schemas.microsoft.com/office/drawing/2014/main" id="{D588902E-D89F-29D4-505C-72D3BCC01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4797425"/>
            <a:ext cx="1033463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51" name="Picture 15">
            <a:extLst>
              <a:ext uri="{FF2B5EF4-FFF2-40B4-BE49-F238E27FC236}">
                <a16:creationId xmlns:a16="http://schemas.microsoft.com/office/drawing/2014/main" id="{9159D9FB-DA4F-8B35-0EEE-285EF7A4C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797425"/>
            <a:ext cx="1266825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52" name="Picture 16">
            <a:extLst>
              <a:ext uri="{FF2B5EF4-FFF2-40B4-BE49-F238E27FC236}">
                <a16:creationId xmlns:a16="http://schemas.microsoft.com/office/drawing/2014/main" id="{150BD92D-38F3-A6D0-55C4-EAACE1E80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797425"/>
            <a:ext cx="9271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53" name="Picture 17">
            <a:extLst>
              <a:ext uri="{FF2B5EF4-FFF2-40B4-BE49-F238E27FC236}">
                <a16:creationId xmlns:a16="http://schemas.microsoft.com/office/drawing/2014/main" id="{66F1D4D6-663E-398F-48FC-E39397FA0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868863"/>
            <a:ext cx="1033462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54" name="Picture 18">
            <a:extLst>
              <a:ext uri="{FF2B5EF4-FFF2-40B4-BE49-F238E27FC236}">
                <a16:creationId xmlns:a16="http://schemas.microsoft.com/office/drawing/2014/main" id="{C17BB623-91D7-090F-CEF6-2A5BFF8FB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5661025"/>
            <a:ext cx="1031875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55" name="Picture 19">
            <a:extLst>
              <a:ext uri="{FF2B5EF4-FFF2-40B4-BE49-F238E27FC236}">
                <a16:creationId xmlns:a16="http://schemas.microsoft.com/office/drawing/2014/main" id="{D6985336-E8D7-36B1-86BD-8ECF2DC92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5734050"/>
            <a:ext cx="1031875" cy="83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8B89286B-CB3F-B8C8-0189-DE8E9F14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02A43-9DDA-4E62-887A-4A2339482743}" type="slidenum">
              <a:rPr lang="cs-CZ" altLang="en-US"/>
              <a:pPr/>
              <a:t>19</a:t>
            </a:fld>
            <a:endParaRPr lang="cs-CZ" altLang="en-US"/>
          </a:p>
        </p:txBody>
      </p:sp>
      <p:sp>
        <p:nvSpPr>
          <p:cNvPr id="265218" name="Rectangle 2">
            <a:extLst>
              <a:ext uri="{FF2B5EF4-FFF2-40B4-BE49-F238E27FC236}">
                <a16:creationId xmlns:a16="http://schemas.microsoft.com/office/drawing/2014/main" id="{6C71B304-6829-AD88-6B9D-A4DE8A2A0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</a:t>
            </a: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81243A46-AF3B-2734-D689-025A088AC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2286000"/>
          </a:xfrm>
        </p:spPr>
        <p:txBody>
          <a:bodyPr/>
          <a:lstStyle/>
          <a:p>
            <a:r>
              <a:rPr lang="cs-CZ" altLang="cs-CZ"/>
              <a:t>Kvalita výsledné fotografie závisí na cloně, času expozice a  jejich kombinaci.</a:t>
            </a:r>
          </a:p>
          <a:p>
            <a:endParaRPr lang="cs-CZ" altLang="cs-CZ"/>
          </a:p>
          <a:p>
            <a:r>
              <a:rPr lang="cs-CZ" altLang="cs-CZ"/>
              <a:t>Hloubka ostrosti (co vše bude „ostré“)</a:t>
            </a:r>
          </a:p>
          <a:p>
            <a:endParaRPr lang="cs-CZ" altLang="cs-CZ"/>
          </a:p>
        </p:txBody>
      </p:sp>
      <p:grpSp>
        <p:nvGrpSpPr>
          <p:cNvPr id="265267" name="Group 51">
            <a:extLst>
              <a:ext uri="{FF2B5EF4-FFF2-40B4-BE49-F238E27FC236}">
                <a16:creationId xmlns:a16="http://schemas.microsoft.com/office/drawing/2014/main" id="{DE8BEA73-70A5-633B-1E10-09E686D696D7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437063"/>
            <a:ext cx="7810500" cy="1804987"/>
            <a:chOff x="385" y="2795"/>
            <a:chExt cx="4920" cy="1137"/>
          </a:xfrm>
        </p:grpSpPr>
        <p:grpSp>
          <p:nvGrpSpPr>
            <p:cNvPr id="265250" name="Group 34">
              <a:extLst>
                <a:ext uri="{FF2B5EF4-FFF2-40B4-BE49-F238E27FC236}">
                  <a16:creationId xmlns:a16="http://schemas.microsoft.com/office/drawing/2014/main" id="{59C30CE4-1431-A8F9-2C43-25F84CE9F5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795"/>
              <a:ext cx="4806" cy="778"/>
              <a:chOff x="286" y="3170"/>
              <a:chExt cx="4806" cy="778"/>
            </a:xfrm>
          </p:grpSpPr>
          <p:pic>
            <p:nvPicPr>
              <p:cNvPr id="265251" name="Picture 35">
                <a:extLst>
                  <a:ext uri="{FF2B5EF4-FFF2-40B4-BE49-F238E27FC236}">
                    <a16:creationId xmlns:a16="http://schemas.microsoft.com/office/drawing/2014/main" id="{EFE889CF-D534-E6E8-3520-C52B5A61F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5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2" name="Picture 36">
                <a:extLst>
                  <a:ext uri="{FF2B5EF4-FFF2-40B4-BE49-F238E27FC236}">
                    <a16:creationId xmlns:a16="http://schemas.microsoft.com/office/drawing/2014/main" id="{01F71B33-6DA3-66DB-AB0C-6B44B1BE79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7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3" name="Picture 37">
                <a:extLst>
                  <a:ext uri="{FF2B5EF4-FFF2-40B4-BE49-F238E27FC236}">
                    <a16:creationId xmlns:a16="http://schemas.microsoft.com/office/drawing/2014/main" id="{7AD9F4A4-7244-37B2-C21A-73ECE8711B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4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4" name="Picture 38">
                <a:extLst>
                  <a:ext uri="{FF2B5EF4-FFF2-40B4-BE49-F238E27FC236}">
                    <a16:creationId xmlns:a16="http://schemas.microsoft.com/office/drawing/2014/main" id="{338EAA32-B16A-D0F5-839C-469FFF0CD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1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5" name="Picture 39">
                <a:extLst>
                  <a:ext uri="{FF2B5EF4-FFF2-40B4-BE49-F238E27FC236}">
                    <a16:creationId xmlns:a16="http://schemas.microsoft.com/office/drawing/2014/main" id="{BAF7FE61-C47A-71EF-2312-0DB8753523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28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6" name="Picture 40">
                <a:extLst>
                  <a:ext uri="{FF2B5EF4-FFF2-40B4-BE49-F238E27FC236}">
                    <a16:creationId xmlns:a16="http://schemas.microsoft.com/office/drawing/2014/main" id="{2E3B4458-AAB4-5DF1-070A-91BBFB7AA4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1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7" name="Picture 41">
                <a:extLst>
                  <a:ext uri="{FF2B5EF4-FFF2-40B4-BE49-F238E27FC236}">
                    <a16:creationId xmlns:a16="http://schemas.microsoft.com/office/drawing/2014/main" id="{7599B225-761A-7116-98DB-701443EB5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93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8" name="Picture 42">
                <a:extLst>
                  <a:ext uri="{FF2B5EF4-FFF2-40B4-BE49-F238E27FC236}">
                    <a16:creationId xmlns:a16="http://schemas.microsoft.com/office/drawing/2014/main" id="{DB2898C0-3A98-A3F1-DC34-1FCE2E2CCD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0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59" name="Picture 43">
                <a:extLst>
                  <a:ext uri="{FF2B5EF4-FFF2-40B4-BE49-F238E27FC236}">
                    <a16:creationId xmlns:a16="http://schemas.microsoft.com/office/drawing/2014/main" id="{F95FEE45-2FE7-99CE-0BF8-4D1CD467C9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7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60" name="Picture 44">
                <a:extLst>
                  <a:ext uri="{FF2B5EF4-FFF2-40B4-BE49-F238E27FC236}">
                    <a16:creationId xmlns:a16="http://schemas.microsoft.com/office/drawing/2014/main" id="{08C03C85-C7C2-626C-49F4-D9690A79A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4" y="3170"/>
                <a:ext cx="388" cy="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5261" name="Picture 45">
                <a:extLst>
                  <a:ext uri="{FF2B5EF4-FFF2-40B4-BE49-F238E27FC236}">
                    <a16:creationId xmlns:a16="http://schemas.microsoft.com/office/drawing/2014/main" id="{3E8E3C94-C1C7-68B3-CE52-CB9B0083D7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216" y="3459"/>
                <a:ext cx="559" cy="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65262" name="Line 46">
                <a:extLst>
                  <a:ext uri="{FF2B5EF4-FFF2-40B4-BE49-F238E27FC236}">
                    <a16:creationId xmlns:a16="http://schemas.microsoft.com/office/drawing/2014/main" id="{19CD4C9D-9972-BF14-DDDC-042244B71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8" y="3584"/>
                <a:ext cx="2485" cy="6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265263" name="Rectangle 47">
              <a:extLst>
                <a:ext uri="{FF2B5EF4-FFF2-40B4-BE49-F238E27FC236}">
                  <a16:creationId xmlns:a16="http://schemas.microsoft.com/office/drawing/2014/main" id="{151B5E8C-B294-7FF0-DC08-9776796BD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3542"/>
              <a:ext cx="676" cy="128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65264" name="Rectangle 48">
              <a:extLst>
                <a:ext uri="{FF2B5EF4-FFF2-40B4-BE49-F238E27FC236}">
                  <a16:creationId xmlns:a16="http://schemas.microsoft.com/office/drawing/2014/main" id="{77CE23F9-57EE-83F2-13E6-72E1E461A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" y="3775"/>
              <a:ext cx="2016" cy="128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65265" name="Text Box 49">
              <a:extLst>
                <a:ext uri="{FF2B5EF4-FFF2-40B4-BE49-F238E27FC236}">
                  <a16:creationId xmlns:a16="http://schemas.microsoft.com/office/drawing/2014/main" id="{E2E711D7-52F4-A3A4-C0B9-30003007F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3474"/>
              <a:ext cx="10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cs-CZ">
                  <a:solidFill>
                    <a:schemeClr val="hlink"/>
                  </a:solidFill>
                  <a:latin typeface="Tahoma" panose="020B0604030504040204" pitchFamily="34" charset="0"/>
                </a:rPr>
                <a:t>mal</a:t>
              </a:r>
              <a:r>
                <a:rPr lang="cs-CZ" altLang="cs-CZ">
                  <a:solidFill>
                    <a:schemeClr val="hlink"/>
                  </a:solidFill>
                  <a:latin typeface="Tahoma" panose="020B0604030504040204" pitchFamily="34" charset="0"/>
                </a:rPr>
                <a:t>á</a:t>
              </a:r>
            </a:p>
          </p:txBody>
        </p:sp>
        <p:sp>
          <p:nvSpPr>
            <p:cNvPr id="265266" name="Text Box 50">
              <a:extLst>
                <a:ext uri="{FF2B5EF4-FFF2-40B4-BE49-F238E27FC236}">
                  <a16:creationId xmlns:a16="http://schemas.microsoft.com/office/drawing/2014/main" id="{34B15167-DFC2-97D1-816C-F28BC4324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8" y="3701"/>
              <a:ext cx="10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>
                  <a:solidFill>
                    <a:schemeClr val="hlink"/>
                  </a:solidFill>
                  <a:latin typeface="Tahoma" panose="020B0604030504040204" pitchFamily="34" charset="0"/>
                </a:rPr>
                <a:t>velká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010A6192-6448-F7D0-A0E2-39C6095B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919F-1DE7-477C-9019-48F8DF964C5B}" type="slidenum">
              <a:rPr lang="cs-CZ" altLang="en-US"/>
              <a:pPr/>
              <a:t>20</a:t>
            </a:fld>
            <a:endParaRPr lang="cs-CZ" altLang="en-US"/>
          </a:p>
        </p:txBody>
      </p:sp>
      <p:sp>
        <p:nvSpPr>
          <p:cNvPr id="267266" name="Rectangle 2">
            <a:extLst>
              <a:ext uri="{FF2B5EF4-FFF2-40B4-BE49-F238E27FC236}">
                <a16:creationId xmlns:a16="http://schemas.microsoft.com/office/drawing/2014/main" id="{6FF3AA3B-6FA9-D40D-80B9-E9744222F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- Clona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6AD00F5F-042E-0415-ACA7-9393435A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5735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velikost otvoru pro dopadající obraz na snímač. 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udává se pomocí clonového čísla: poměr zachyceného světla k propuštěnému světlu ke snímači </a:t>
            </a:r>
            <a:r>
              <a:rPr lang="cs-CZ" altLang="cs-CZ" sz="2200" i="1">
                <a:solidFill>
                  <a:schemeClr val="bg2"/>
                </a:solidFill>
              </a:rPr>
              <a:t>(clona 8 znamená, že ke snímači projde pouze 1/8 světla, které objektiv zachytí) </a:t>
            </a:r>
            <a:r>
              <a:rPr lang="cs-CZ" altLang="cs-CZ" sz="2600"/>
              <a:t> 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běžné hodnoty: f2 až f22 </a:t>
            </a:r>
            <a:r>
              <a:rPr lang="cs-CZ" altLang="cs-CZ" sz="2600">
                <a:solidFill>
                  <a:schemeClr val="bg2"/>
                </a:solidFill>
              </a:rPr>
              <a:t>(f38)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Ovlivňuje: 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světlost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ostrost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cloně musí odpovídat </a:t>
            </a:r>
            <a:br>
              <a:rPr lang="cs-CZ" altLang="cs-CZ" sz="2600"/>
            </a:br>
            <a:r>
              <a:rPr lang="cs-CZ" altLang="cs-CZ" sz="2600"/>
              <a:t>čas expozice</a:t>
            </a:r>
          </a:p>
          <a:p>
            <a:pPr>
              <a:lnSpc>
                <a:spcPct val="90000"/>
              </a:lnSpc>
            </a:pPr>
            <a:endParaRPr lang="cs-CZ" altLang="cs-CZ" sz="2600"/>
          </a:p>
        </p:txBody>
      </p:sp>
      <p:pic>
        <p:nvPicPr>
          <p:cNvPr id="267270" name="Picture 6">
            <a:extLst>
              <a:ext uri="{FF2B5EF4-FFF2-40B4-BE49-F238E27FC236}">
                <a16:creationId xmlns:a16="http://schemas.microsoft.com/office/drawing/2014/main" id="{ECA963A2-5CD2-6C7F-F427-E771940A0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284538"/>
            <a:ext cx="2930525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31B4FEB-F358-9322-6333-A8FCE2B5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3834-ABA2-424A-9944-A9131B3D5024}" type="slidenum">
              <a:rPr lang="cs-CZ" altLang="en-US"/>
              <a:pPr/>
              <a:t>21</a:t>
            </a:fld>
            <a:endParaRPr lang="cs-CZ" altLang="en-US"/>
          </a:p>
        </p:txBody>
      </p:sp>
      <p:sp>
        <p:nvSpPr>
          <p:cNvPr id="266242" name="Rectangle 2">
            <a:extLst>
              <a:ext uri="{FF2B5EF4-FFF2-40B4-BE49-F238E27FC236}">
                <a16:creationId xmlns:a16="http://schemas.microsoft.com/office/drawing/2014/main" id="{D940F4BB-3D55-5061-A384-DC6BB6FD4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- Clona</a:t>
            </a:r>
          </a:p>
        </p:txBody>
      </p:sp>
      <p:pic>
        <p:nvPicPr>
          <p:cNvPr id="266245" name="Picture 5">
            <a:extLst>
              <a:ext uri="{FF2B5EF4-FFF2-40B4-BE49-F238E27FC236}">
                <a16:creationId xmlns:a16="http://schemas.microsoft.com/office/drawing/2014/main" id="{89B4EB88-525A-0BCD-E293-6371B4AE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12875"/>
            <a:ext cx="3579812" cy="522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46" name="Text Box 6">
            <a:extLst>
              <a:ext uri="{FF2B5EF4-FFF2-40B4-BE49-F238E27FC236}">
                <a16:creationId xmlns:a16="http://schemas.microsoft.com/office/drawing/2014/main" id="{C7D52A71-EDB0-DAF8-2EFA-E9B84A58A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1539875"/>
            <a:ext cx="3465512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cs-CZ" altLang="cs-CZ" sz="2000">
                <a:latin typeface="Tahoma" panose="020B0604030504040204" pitchFamily="34" charset="0"/>
              </a:rPr>
              <a:t> velká hloubka ostrosti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cs-CZ" altLang="cs-CZ" sz="2000">
                <a:latin typeface="Tahoma" panose="020B0604030504040204" pitchFamily="34" charset="0"/>
              </a:rPr>
              <a:t> velká clona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cs-CZ" altLang="cs-CZ" sz="2000">
                <a:latin typeface="Tahoma" panose="020B0604030504040204" pitchFamily="34" charset="0"/>
              </a:rPr>
              <a:t> malý otvor</a:t>
            </a:r>
          </a:p>
        </p:txBody>
      </p:sp>
      <p:sp>
        <p:nvSpPr>
          <p:cNvPr id="266247" name="Text Box 7">
            <a:extLst>
              <a:ext uri="{FF2B5EF4-FFF2-40B4-BE49-F238E27FC236}">
                <a16:creationId xmlns:a16="http://schemas.microsoft.com/office/drawing/2014/main" id="{8D0F6981-E405-2F81-3DEC-8A48094C8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5" y="5391150"/>
            <a:ext cx="3465513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cs-CZ" altLang="cs-CZ" sz="2000">
                <a:latin typeface="Tahoma" panose="020B0604030504040204" pitchFamily="34" charset="0"/>
              </a:rPr>
              <a:t> malá hloubka ostrosti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cs-CZ" altLang="cs-CZ" sz="2000">
                <a:latin typeface="Tahoma" panose="020B0604030504040204" pitchFamily="34" charset="0"/>
              </a:rPr>
              <a:t> malá clona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cs-CZ" altLang="cs-CZ" sz="2000">
                <a:latin typeface="Tahoma" panose="020B0604030504040204" pitchFamily="34" charset="0"/>
              </a:rPr>
              <a:t> velký otvor</a:t>
            </a:r>
          </a:p>
        </p:txBody>
      </p:sp>
      <p:pic>
        <p:nvPicPr>
          <p:cNvPr id="266248" name="Picture 8">
            <a:extLst>
              <a:ext uri="{FF2B5EF4-FFF2-40B4-BE49-F238E27FC236}">
                <a16:creationId xmlns:a16="http://schemas.microsoft.com/office/drawing/2014/main" id="{D2E3C332-0C92-071E-3F09-538D54D6C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924175"/>
            <a:ext cx="4537075" cy="203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A8E889EB-4495-3116-F53A-3D33BE00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08D-5EE1-4F5C-A0AC-264BCF90874A}" type="slidenum">
              <a:rPr lang="cs-CZ" altLang="en-US"/>
              <a:pPr/>
              <a:t>22</a:t>
            </a:fld>
            <a:endParaRPr lang="cs-CZ" altLang="en-US"/>
          </a:p>
        </p:txBody>
      </p:sp>
      <p:sp>
        <p:nvSpPr>
          <p:cNvPr id="271364" name="Rectangle 4">
            <a:extLst>
              <a:ext uri="{FF2B5EF4-FFF2-40B4-BE49-F238E27FC236}">
                <a16:creationId xmlns:a16="http://schemas.microsoft.com/office/drawing/2014/main" id="{5623AE2B-0DCE-F3F4-D032-15B371D05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sz="3500"/>
              <a:t>Expozice </a:t>
            </a:r>
            <a:br>
              <a:rPr lang="cs-CZ" altLang="cs-CZ" sz="3500"/>
            </a:br>
            <a:r>
              <a:rPr lang="cs-CZ" altLang="cs-CZ" sz="3100"/>
              <a:t>velká hloubka ostrosti (vše je ostré)</a:t>
            </a:r>
          </a:p>
        </p:txBody>
      </p:sp>
      <p:pic>
        <p:nvPicPr>
          <p:cNvPr id="271365" name="Picture 5">
            <a:extLst>
              <a:ext uri="{FF2B5EF4-FFF2-40B4-BE49-F238E27FC236}">
                <a16:creationId xmlns:a16="http://schemas.microsoft.com/office/drawing/2014/main" id="{D0E719C9-BAE4-7A4C-4BDB-CAC5BF187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484313"/>
            <a:ext cx="6985000" cy="491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6" name="Rectangle 6">
            <a:extLst>
              <a:ext uri="{FF2B5EF4-FFF2-40B4-BE49-F238E27FC236}">
                <a16:creationId xmlns:a16="http://schemas.microsoft.com/office/drawing/2014/main" id="{76B5D461-5B95-C679-A34D-F8B6BC6DB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949950"/>
            <a:ext cx="77724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cs-CZ" altLang="cs-CZ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78EC2872-5121-6D1D-B719-BFF42880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62BE-7FDA-496A-938B-A40CC1C1D929}" type="slidenum">
              <a:rPr lang="cs-CZ" altLang="en-US"/>
              <a:pPr/>
              <a:t>23</a:t>
            </a:fld>
            <a:endParaRPr lang="cs-CZ" altLang="en-US"/>
          </a:p>
        </p:txBody>
      </p:sp>
      <p:sp>
        <p:nvSpPr>
          <p:cNvPr id="273410" name="Rectangle 2">
            <a:extLst>
              <a:ext uri="{FF2B5EF4-FFF2-40B4-BE49-F238E27FC236}">
                <a16:creationId xmlns:a16="http://schemas.microsoft.com/office/drawing/2014/main" id="{1050A714-E2EA-76D4-57CA-72FF6996C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sz="3500"/>
              <a:t>Expozice </a:t>
            </a:r>
            <a:br>
              <a:rPr lang="cs-CZ" altLang="cs-CZ" sz="3500"/>
            </a:br>
            <a:r>
              <a:rPr lang="cs-CZ" altLang="cs-CZ" sz="2800"/>
              <a:t>malá hloubka ostrosti (jen objekt je ostrý)</a:t>
            </a:r>
          </a:p>
        </p:txBody>
      </p:sp>
      <p:sp>
        <p:nvSpPr>
          <p:cNvPr id="273412" name="Rectangle 4">
            <a:extLst>
              <a:ext uri="{FF2B5EF4-FFF2-40B4-BE49-F238E27FC236}">
                <a16:creationId xmlns:a16="http://schemas.microsoft.com/office/drawing/2014/main" id="{41A49A13-6276-0927-AEEE-22BB94583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949950"/>
            <a:ext cx="777240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cs-CZ" altLang="cs-CZ"/>
          </a:p>
        </p:txBody>
      </p:sp>
      <p:pic>
        <p:nvPicPr>
          <p:cNvPr id="273413" name="Picture 5">
            <a:extLst>
              <a:ext uri="{FF2B5EF4-FFF2-40B4-BE49-F238E27FC236}">
                <a16:creationId xmlns:a16="http://schemas.microsoft.com/office/drawing/2014/main" id="{FC48EFA6-B7B7-0348-EB05-C84786E31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628775"/>
            <a:ext cx="6480175" cy="486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1B5E905E-C6E8-99F6-DF77-A1F1A712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CDA9A-66BA-4E47-8379-5FAF07ED3865}" type="slidenum">
              <a:rPr lang="cs-CZ" altLang="en-US"/>
              <a:pPr/>
              <a:t>24</a:t>
            </a:fld>
            <a:endParaRPr lang="cs-CZ" altLang="en-US"/>
          </a:p>
        </p:txBody>
      </p:sp>
      <p:sp>
        <p:nvSpPr>
          <p:cNvPr id="268290" name="Rectangle 2">
            <a:extLst>
              <a:ext uri="{FF2B5EF4-FFF2-40B4-BE49-F238E27FC236}">
                <a16:creationId xmlns:a16="http://schemas.microsoft.com/office/drawing/2014/main" id="{A79F3B66-9C62-44BE-8438-C921C3012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- Čas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FEDEC919-81F9-A204-B64A-281B2E36D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5040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Jde o čas „otevřené“ závěrky - čas dopadání obrazu na snímač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Běžné hodnoty od 1/2.000 s - sekundy („čas B“)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Čas je nutné nastavovat v závislosti na osvětlení a cloně </a:t>
            </a:r>
            <a:r>
              <a:rPr lang="cs-CZ" altLang="cs-CZ" sz="2600" i="1">
                <a:solidFill>
                  <a:schemeClr val="bg2"/>
                </a:solidFill>
              </a:rPr>
              <a:t>(čím delší čas, tím větší clona)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cs-CZ" altLang="cs-CZ" sz="2600"/>
              <a:t>	stejné množství světla dopadne na snímač například při těchto kombinacích clony a času:</a:t>
            </a:r>
          </a:p>
          <a:p>
            <a:pPr lvl="4">
              <a:lnSpc>
                <a:spcPct val="90000"/>
              </a:lnSpc>
            </a:pPr>
            <a:r>
              <a:rPr lang="cs-CZ" altLang="cs-CZ"/>
              <a:t>Čas 1/30 sek., clona f16 </a:t>
            </a:r>
          </a:p>
          <a:p>
            <a:pPr lvl="4">
              <a:lnSpc>
                <a:spcPct val="90000"/>
              </a:lnSpc>
            </a:pPr>
            <a:r>
              <a:rPr lang="cs-CZ" altLang="cs-CZ"/>
              <a:t>Čas 1/60 sek., clona f11 </a:t>
            </a:r>
          </a:p>
          <a:p>
            <a:pPr lvl="4">
              <a:lnSpc>
                <a:spcPct val="90000"/>
              </a:lnSpc>
            </a:pPr>
            <a:r>
              <a:rPr lang="cs-CZ" altLang="cs-CZ"/>
              <a:t>Čas 1/125 sek., clona f8   </a:t>
            </a:r>
          </a:p>
          <a:p>
            <a:pPr lvl="4">
              <a:lnSpc>
                <a:spcPct val="90000"/>
              </a:lnSpc>
            </a:pPr>
            <a:r>
              <a:rPr lang="cs-CZ" altLang="cs-CZ"/>
              <a:t>Čas 1/250 sek., clona f4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Pro běžné fotografování stačí správně používat automatiku fotoaparátu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D6C2CBDB-BC70-02F2-51E7-D9B6F259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F986F-1813-4009-97ED-AEE7D2FC04FD}" type="slidenum">
              <a:rPr lang="cs-CZ" altLang="en-US"/>
              <a:pPr/>
              <a:t>25</a:t>
            </a:fld>
            <a:endParaRPr lang="cs-CZ" altLang="en-US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271BC0CD-1FA7-190E-495F-1AD9C3A62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Závěrka</a:t>
            </a:r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A72D9310-EE07-181D-6C03-C71EC236E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b="1"/>
              <a:t>mechanická</a:t>
            </a:r>
            <a:endParaRPr lang="cs-CZ" altLang="cs-CZ"/>
          </a:p>
          <a:p>
            <a:pPr lvl="1"/>
            <a:r>
              <a:rPr lang="cs-CZ" altLang="cs-CZ"/>
              <a:t>používá se především u klasických fotoaparátů</a:t>
            </a:r>
          </a:p>
          <a:p>
            <a:pPr lvl="1"/>
            <a:r>
              <a:rPr lang="cs-CZ" altLang="cs-CZ"/>
              <a:t>může vytvářet mikrootřesy </a:t>
            </a:r>
          </a:p>
          <a:p>
            <a:pPr lvl="1"/>
            <a:endParaRPr lang="cs-CZ" altLang="cs-CZ"/>
          </a:p>
          <a:p>
            <a:r>
              <a:rPr lang="cs-CZ" altLang="cs-CZ" b="1"/>
              <a:t>elektronická</a:t>
            </a:r>
          </a:p>
          <a:p>
            <a:pPr lvl="1"/>
            <a:r>
              <a:rPr lang="cs-CZ" altLang="cs-CZ"/>
              <a:t>u digitálních fotoaparátů</a:t>
            </a:r>
          </a:p>
          <a:p>
            <a:pPr lvl="1"/>
            <a:r>
              <a:rPr lang="cs-CZ" altLang="cs-CZ"/>
              <a:t>(jen) se zapne a vypne snímání čipu</a:t>
            </a:r>
          </a:p>
          <a:p>
            <a:pPr lvl="1"/>
            <a:r>
              <a:rPr lang="cs-CZ" altLang="cs-CZ"/>
              <a:t>umí i extrémně krátké časy (1/10.000 s)</a:t>
            </a:r>
          </a:p>
          <a:p>
            <a:endParaRPr lang="cs-CZ" altLang="cs-CZ"/>
          </a:p>
        </p:txBody>
      </p:sp>
      <p:pic>
        <p:nvPicPr>
          <p:cNvPr id="269317" name="Picture 5">
            <a:extLst>
              <a:ext uri="{FF2B5EF4-FFF2-40B4-BE49-F238E27FC236}">
                <a16:creationId xmlns:a16="http://schemas.microsoft.com/office/drawing/2014/main" id="{A055F43A-7C43-9831-12D9-29F2FC3A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8913"/>
            <a:ext cx="3168650" cy="158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318" name="Picture 6">
            <a:extLst>
              <a:ext uri="{FF2B5EF4-FFF2-40B4-BE49-F238E27FC236}">
                <a16:creationId xmlns:a16="http://schemas.microsoft.com/office/drawing/2014/main" id="{45D51CFE-D98F-520E-0D9A-90E6336D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2852738"/>
            <a:ext cx="34671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9319" name="Text Box 7">
            <a:extLst>
              <a:ext uri="{FF2B5EF4-FFF2-40B4-BE49-F238E27FC236}">
                <a16:creationId xmlns:a16="http://schemas.microsoft.com/office/drawing/2014/main" id="{00A5D850-F063-AE47-01DB-A3EA12E84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1720850"/>
            <a:ext cx="1531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cs-CZ" altLang="cs-CZ"/>
          </a:p>
        </p:txBody>
      </p:sp>
      <p:sp>
        <p:nvSpPr>
          <p:cNvPr id="269320" name="Text Box 8">
            <a:extLst>
              <a:ext uri="{FF2B5EF4-FFF2-40B4-BE49-F238E27FC236}">
                <a16:creationId xmlns:a16="http://schemas.microsoft.com/office/drawing/2014/main" id="{7483EA25-6217-A923-AB5A-B0548E74C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700213"/>
            <a:ext cx="2376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000" b="1">
                <a:solidFill>
                  <a:srgbClr val="0000FF"/>
                </a:solidFill>
              </a:rPr>
              <a:t>Centrální závěrka</a:t>
            </a:r>
          </a:p>
        </p:txBody>
      </p:sp>
      <p:sp>
        <p:nvSpPr>
          <p:cNvPr id="269321" name="Text Box 9">
            <a:extLst>
              <a:ext uri="{FF2B5EF4-FFF2-40B4-BE49-F238E27FC236}">
                <a16:creationId xmlns:a16="http://schemas.microsoft.com/office/drawing/2014/main" id="{CB91F1F4-FEC0-C4B0-ED19-21047BA7E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4221163"/>
            <a:ext cx="2520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000" b="1">
                <a:solidFill>
                  <a:srgbClr val="0000FF"/>
                </a:solidFill>
              </a:rPr>
              <a:t>Štěrbinová závěrka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82132BE7-9CC6-C826-EAF3-5A060495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6B7B-B10B-4B80-8EA8-79D318D49EF0}" type="slidenum">
              <a:rPr lang="cs-CZ" altLang="en-US"/>
              <a:pPr/>
              <a:t>26</a:t>
            </a:fld>
            <a:endParaRPr lang="cs-CZ" altLang="en-US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5A1FAB0E-BC7E-A7A6-C440-97D7CFE0C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- měření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B4E03C46-A8FE-E8F0-E0B3-B607A89AB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sz="2600"/>
              <a:t>Digitální fotoaparáty si v závislosti na osvětlení scény dokáží správné hodnoty změřit a nastavit samy. </a:t>
            </a:r>
          </a:p>
          <a:p>
            <a:r>
              <a:rPr lang="cs-CZ" altLang="cs-CZ" sz="2600"/>
              <a:t>Podle toho nastaví clonu, čas, případně blesk.</a:t>
            </a:r>
          </a:p>
          <a:p>
            <a:r>
              <a:rPr lang="cs-CZ" altLang="cs-CZ" sz="2600"/>
              <a:t>Pozor  je nutné dávat pouze v některých situacích:</a:t>
            </a:r>
          </a:p>
          <a:p>
            <a:pPr lvl="1"/>
            <a:r>
              <a:rPr lang="cs-CZ" altLang="cs-CZ" sz="2200"/>
              <a:t>focení v místnosti s oknem v pozadí: okno bude přesvětlené a fotografovaná osoba před ním skoro černá</a:t>
            </a:r>
          </a:p>
          <a:p>
            <a:pPr lvl="1"/>
            <a:r>
              <a:rPr lang="cs-CZ" altLang="cs-CZ" sz="2200"/>
              <a:t>focení na sněhové pokrývce: fotoaparát dostane mnoho světla, uzavře clonu a případné objekty v popředí vyjdou opět nepřiměřeně tmavé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4">
            <a:extLst>
              <a:ext uri="{FF2B5EF4-FFF2-40B4-BE49-F238E27FC236}">
                <a16:creationId xmlns:a16="http://schemas.microsoft.com/office/drawing/2014/main" id="{3E3807F7-EE1D-264D-A6F5-6F27C907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5B255-E33C-40E6-B541-287A6724DB8F}" type="slidenum">
              <a:rPr lang="cs-CZ" altLang="en-US"/>
              <a:pPr/>
              <a:t>27</a:t>
            </a:fld>
            <a:endParaRPr lang="cs-CZ" altLang="en-US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1AED3104-3E27-485E-7277-2628C7B4D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- měření</a:t>
            </a:r>
          </a:p>
        </p:txBody>
      </p:sp>
      <p:pic>
        <p:nvPicPr>
          <p:cNvPr id="275460" name="Picture 4">
            <a:extLst>
              <a:ext uri="{FF2B5EF4-FFF2-40B4-BE49-F238E27FC236}">
                <a16:creationId xmlns:a16="http://schemas.microsoft.com/office/drawing/2014/main" id="{973EF89A-A4F7-3DA6-A106-C3809B2DC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84313"/>
            <a:ext cx="6697662" cy="507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0FB5E779-5E51-6075-B640-D3697DCF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EB1C5-BD0E-40BB-BB8C-BD42102C8B06}" type="slidenum">
              <a:rPr lang="cs-CZ" altLang="en-US"/>
              <a:pPr/>
              <a:t>28</a:t>
            </a:fld>
            <a:endParaRPr lang="cs-CZ" altLang="en-US"/>
          </a:p>
        </p:txBody>
      </p:sp>
      <p:sp>
        <p:nvSpPr>
          <p:cNvPr id="277506" name="Rectangle 2">
            <a:extLst>
              <a:ext uri="{FF2B5EF4-FFF2-40B4-BE49-F238E27FC236}">
                <a16:creationId xmlns:a16="http://schemas.microsoft.com/office/drawing/2014/main" id="{880BF60D-85C3-82DC-FE67-17BE1F322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Expozice - měření</a:t>
            </a:r>
          </a:p>
        </p:txBody>
      </p:sp>
      <p:sp>
        <p:nvSpPr>
          <p:cNvPr id="277508" name="Rectangle 4">
            <a:extLst>
              <a:ext uri="{FF2B5EF4-FFF2-40B4-BE49-F238E27FC236}">
                <a16:creationId xmlns:a16="http://schemas.microsoft.com/office/drawing/2014/main" id="{9B4C5F15-D354-B45A-1804-A9B135F22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Při fotografování mohou vzniknout problémové situace: 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objekt, který má být ostrý, není uprostřed snímku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za objektem je nevhodné pozadí (bílé, okno,…)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Řešení: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využitím namáčknutí spouště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(stiskem spouště do poloviny fotoaparát změří expozici a zaostří, teprve domáčknutím snímek exponujeme)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stačí namířit fotoaparát na objekt který má být „ostrý“, namáčknout spoušť, držet ji a potom pohnout přístrojem tak, aby kompozice byla v pořádku. Teprve pak spoušť domáčknout.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1CF7D25-6926-BFB1-75C4-112BDF49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8ABD5-39E5-40CA-BF25-D0467387B076}" type="slidenum">
              <a:rPr lang="cs-CZ" altLang="en-US"/>
              <a:pPr/>
              <a:t>29</a:t>
            </a:fld>
            <a:endParaRPr lang="cs-CZ" alt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C29A224E-BAED-B19C-5524-DD83BDBA0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Režimy fotografování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03AA11F-5B58-2D4A-0DC4-DD0A18084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Ruční nastavování všech parametrů (zoom, ostrost, clona, čas,…) je „věda“, a často zbytečně zdlouhavé a složité</a:t>
            </a:r>
          </a:p>
          <a:p>
            <a:r>
              <a:rPr lang="cs-CZ" altLang="cs-CZ"/>
              <a:t>Digitální fotoaparáty mají proto přednastavené režimy – Motivové programy  </a:t>
            </a:r>
          </a:p>
          <a:p>
            <a:endParaRPr lang="cs-CZ" altLang="cs-CZ"/>
          </a:p>
        </p:txBody>
      </p:sp>
      <p:pic>
        <p:nvPicPr>
          <p:cNvPr id="279556" name="Picture 4">
            <a:extLst>
              <a:ext uri="{FF2B5EF4-FFF2-40B4-BE49-F238E27FC236}">
                <a16:creationId xmlns:a16="http://schemas.microsoft.com/office/drawing/2014/main" id="{9E9C216C-F8DF-67DA-4C7D-ECC94DD2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4292600"/>
            <a:ext cx="2160588" cy="213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9557" name="Picture 5">
            <a:extLst>
              <a:ext uri="{FF2B5EF4-FFF2-40B4-BE49-F238E27FC236}">
                <a16:creationId xmlns:a16="http://schemas.microsoft.com/office/drawing/2014/main" id="{FB506535-9219-46D7-1D9E-70E9A516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4652963"/>
            <a:ext cx="1841500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9558" name="Picture 6">
            <a:extLst>
              <a:ext uri="{FF2B5EF4-FFF2-40B4-BE49-F238E27FC236}">
                <a16:creationId xmlns:a16="http://schemas.microsoft.com/office/drawing/2014/main" id="{E8178352-8712-7E0D-1223-DE006A55B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4437063"/>
            <a:ext cx="237172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9C408E6-0421-21EF-2DFF-005086A8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E37FB-8A09-4CFA-ABB9-23FF873371A4}" type="slidenum">
              <a:rPr lang="cs-CZ" altLang="en-US"/>
              <a:pPr/>
              <a:t>30</a:t>
            </a:fld>
            <a:endParaRPr lang="cs-CZ" altLang="en-US"/>
          </a:p>
        </p:txBody>
      </p:sp>
      <p:sp>
        <p:nvSpPr>
          <p:cNvPr id="280578" name="Rectangle 2">
            <a:extLst>
              <a:ext uri="{FF2B5EF4-FFF2-40B4-BE49-F238E27FC236}">
                <a16:creationId xmlns:a16="http://schemas.microsoft.com/office/drawing/2014/main" id="{499670C3-5FC2-650A-D188-5D514ABFE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 AUTO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0BFE2027-5AEE-7DB7-178D-9BFFB08CE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3394075" cy="44116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cs-CZ" altLang="cs-CZ" sz="2600"/>
              <a:t>fotoaparát nastaví vše sám na střední hodnoty</a:t>
            </a:r>
          </a:p>
          <a:p>
            <a:pPr>
              <a:lnSpc>
                <a:spcPct val="80000"/>
              </a:lnSpc>
            </a:pPr>
            <a:r>
              <a:rPr lang="cs-CZ" altLang="cs-CZ" sz="2600"/>
              <a:t>univerzální režim, který lze využít, pokud se focením nechceme více zabývat</a:t>
            </a:r>
          </a:p>
          <a:p>
            <a:pPr>
              <a:lnSpc>
                <a:spcPct val="80000"/>
              </a:lnSpc>
            </a:pPr>
            <a:r>
              <a:rPr lang="cs-CZ" altLang="cs-CZ" sz="2600"/>
              <a:t>za běžných světelných podmínek dává dobré výsledky</a:t>
            </a:r>
          </a:p>
        </p:txBody>
      </p:sp>
      <p:pic>
        <p:nvPicPr>
          <p:cNvPr id="280580" name="Picture 4">
            <a:extLst>
              <a:ext uri="{FF2B5EF4-FFF2-40B4-BE49-F238E27FC236}">
                <a16:creationId xmlns:a16="http://schemas.microsoft.com/office/drawing/2014/main" id="{99FE77B5-BE1B-0AD9-4086-26EBEFB7A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276475"/>
            <a:ext cx="4878387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81E35615-38A9-5304-55A4-95F3D1C6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3A120-48D5-4E60-808D-36AD234C91D3}" type="slidenum">
              <a:rPr lang="cs-CZ" altLang="en-US"/>
              <a:pPr/>
              <a:t>31</a:t>
            </a:fld>
            <a:endParaRPr lang="cs-CZ" altLang="en-US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38FF38FF-A4A7-24DF-80FE-F15FBCCDE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 Portrét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1CFCC580-5969-B0B7-537A-F0FEA1E0C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3538538" cy="4518025"/>
          </a:xfrm>
        </p:spPr>
        <p:txBody>
          <a:bodyPr/>
          <a:lstStyle/>
          <a:p>
            <a:r>
              <a:rPr lang="cs-CZ" altLang="cs-CZ" sz="2600"/>
              <a:t>nastavení:</a:t>
            </a:r>
          </a:p>
          <a:p>
            <a:pPr lvl="1"/>
            <a:r>
              <a:rPr lang="cs-CZ" altLang="cs-CZ" sz="2200"/>
              <a:t>malá clona </a:t>
            </a:r>
          </a:p>
          <a:p>
            <a:pPr lvl="1"/>
            <a:r>
              <a:rPr lang="cs-CZ" altLang="cs-CZ" sz="2200"/>
              <a:t>krátký čas</a:t>
            </a:r>
          </a:p>
          <a:p>
            <a:r>
              <a:rPr lang="cs-CZ" altLang="cs-CZ" sz="2600"/>
              <a:t>výsledek:</a:t>
            </a:r>
          </a:p>
          <a:p>
            <a:pPr lvl="1"/>
            <a:r>
              <a:rPr lang="cs-CZ" altLang="cs-CZ" sz="2200"/>
              <a:t>malá hloubka ostrosti a tedy mírně rozmazané pozadí</a:t>
            </a:r>
          </a:p>
          <a:p>
            <a:r>
              <a:rPr lang="cs-CZ" altLang="cs-CZ" sz="2600"/>
              <a:t>postava na snímku je od pozadí opticky oddělena</a:t>
            </a:r>
          </a:p>
        </p:txBody>
      </p:sp>
      <p:pic>
        <p:nvPicPr>
          <p:cNvPr id="281605" name="Picture 5">
            <a:extLst>
              <a:ext uri="{FF2B5EF4-FFF2-40B4-BE49-F238E27FC236}">
                <a16:creationId xmlns:a16="http://schemas.microsoft.com/office/drawing/2014/main" id="{F5B1A0BD-3343-36DD-8E2C-23E1A0F8F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916113"/>
            <a:ext cx="4824413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8838C4EE-6C5F-2F5C-8C74-F68DBD9B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DC587-1B89-4B23-8515-348F701F5E32}" type="slidenum">
              <a:rPr lang="cs-CZ" altLang="en-US"/>
              <a:pPr/>
              <a:t>32</a:t>
            </a:fld>
            <a:endParaRPr lang="cs-CZ" altLang="en-US"/>
          </a:p>
        </p:txBody>
      </p:sp>
      <p:sp>
        <p:nvSpPr>
          <p:cNvPr id="282626" name="Rectangle 2">
            <a:extLst>
              <a:ext uri="{FF2B5EF4-FFF2-40B4-BE49-F238E27FC236}">
                <a16:creationId xmlns:a16="http://schemas.microsoft.com/office/drawing/2014/main" id="{DD43665D-2E0D-1556-DC48-95847BE54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 Krajina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37C97DB7-6DB3-04E0-4694-3E1CF8DE3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3251200" cy="4518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nastavení: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co největší clona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čas se dopočítává (max. 1/60)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výsledek: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vysoká hloubka ostrosti a tedy kompletně ostrý snímek (od popředí až po pozadí)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od cca 4m je vše ostré</a:t>
            </a:r>
          </a:p>
        </p:txBody>
      </p:sp>
      <p:pic>
        <p:nvPicPr>
          <p:cNvPr id="282629" name="Picture 5">
            <a:extLst>
              <a:ext uri="{FF2B5EF4-FFF2-40B4-BE49-F238E27FC236}">
                <a16:creationId xmlns:a16="http://schemas.microsoft.com/office/drawing/2014/main" id="{A5C9CBAC-1A67-DA00-EB7F-0C3483D6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916113"/>
            <a:ext cx="5113338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301E38C9-32F2-3B2D-38D6-D9AF12BE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9AD41-0662-40BB-B353-DF4F48AE825E}" type="slidenum">
              <a:rPr lang="cs-CZ" altLang="en-US"/>
              <a:pPr/>
              <a:t>33</a:t>
            </a:fld>
            <a:endParaRPr lang="cs-CZ" altLang="en-US"/>
          </a:p>
        </p:txBody>
      </p:sp>
      <p:sp>
        <p:nvSpPr>
          <p:cNvPr id="283650" name="Rectangle 2">
            <a:extLst>
              <a:ext uri="{FF2B5EF4-FFF2-40B4-BE49-F238E27FC236}">
                <a16:creationId xmlns:a16="http://schemas.microsoft.com/office/drawing/2014/main" id="{32E853EB-963C-3504-9ECA-28CC40054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 Sport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41FF7D4C-84BC-4A4C-DF9A-91B72280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3251200" cy="4518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nastavení: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co nejkratší čas (např. 1/250 s)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clona se dopočítá</a:t>
            </a:r>
          </a:p>
          <a:p>
            <a:pPr lvl="1">
              <a:lnSpc>
                <a:spcPct val="90000"/>
              </a:lnSpc>
            </a:pPr>
            <a:endParaRPr lang="cs-CZ" altLang="cs-CZ" sz="2000"/>
          </a:p>
          <a:p>
            <a:pPr>
              <a:lnSpc>
                <a:spcPct val="90000"/>
              </a:lnSpc>
            </a:pPr>
            <a:r>
              <a:rPr lang="cs-CZ" altLang="cs-CZ" sz="2600"/>
              <a:t>výsledek: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zmrazení pohybu, ale také většinou poměrně nízká hloubka ostrosti snímku</a:t>
            </a:r>
          </a:p>
          <a:p>
            <a:pPr>
              <a:lnSpc>
                <a:spcPct val="90000"/>
              </a:lnSpc>
            </a:pPr>
            <a:endParaRPr lang="cs-CZ" altLang="cs-CZ" sz="2600"/>
          </a:p>
        </p:txBody>
      </p:sp>
      <p:pic>
        <p:nvPicPr>
          <p:cNvPr id="283653" name="Picture 5">
            <a:extLst>
              <a:ext uri="{FF2B5EF4-FFF2-40B4-BE49-F238E27FC236}">
                <a16:creationId xmlns:a16="http://schemas.microsoft.com/office/drawing/2014/main" id="{A695DDB8-66D8-FB79-F104-0952B4B50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844675"/>
            <a:ext cx="5248275" cy="414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532F5A0C-FC0E-7605-E91C-5AA3AF87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E324-F1A6-4AF8-8159-65FC151B895D}" type="slidenum">
              <a:rPr lang="cs-CZ" altLang="en-US"/>
              <a:pPr/>
              <a:t>34</a:t>
            </a:fld>
            <a:endParaRPr lang="cs-CZ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92502273-8C33-3978-EC20-BB897B936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 Noc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F431D914-07E8-7D6A-492D-6455C726C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4248150" cy="45180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cs-CZ" altLang="cs-CZ" sz="2600"/>
              <a:t>nastavení:</a:t>
            </a:r>
            <a:r>
              <a:rPr lang="cs-CZ" altLang="cs-CZ" sz="2000"/>
              <a:t> </a:t>
            </a:r>
          </a:p>
          <a:p>
            <a:pPr lvl="1">
              <a:lnSpc>
                <a:spcPct val="80000"/>
              </a:lnSpc>
            </a:pPr>
            <a:r>
              <a:rPr lang="cs-CZ" altLang="cs-CZ" sz="2200"/>
              <a:t>co nejdelší čas (1/30s), aby se alespoň trochu vykreslilo pozadí </a:t>
            </a:r>
          </a:p>
          <a:p>
            <a:pPr lvl="1">
              <a:lnSpc>
                <a:spcPct val="80000"/>
              </a:lnSpc>
            </a:pPr>
            <a:r>
              <a:rPr lang="cs-CZ" altLang="cs-CZ" sz="2200"/>
              <a:t>blesk pro osvětlení popředí</a:t>
            </a:r>
          </a:p>
          <a:p>
            <a:pPr>
              <a:lnSpc>
                <a:spcPct val="80000"/>
              </a:lnSpc>
            </a:pPr>
            <a:r>
              <a:rPr lang="cs-CZ" altLang="cs-CZ" sz="2600"/>
              <a:t>výsledek:</a:t>
            </a:r>
          </a:p>
          <a:p>
            <a:pPr lvl="1">
              <a:lnSpc>
                <a:spcPct val="80000"/>
              </a:lnSpc>
            </a:pPr>
            <a:r>
              <a:rPr lang="cs-CZ" altLang="cs-CZ" sz="2200"/>
              <a:t>citlivost na pohyb přístroje a (rozmazaná světla pohybujících se vozidel…) </a:t>
            </a:r>
          </a:p>
          <a:p>
            <a:pPr lvl="1">
              <a:lnSpc>
                <a:spcPct val="80000"/>
              </a:lnSpc>
            </a:pPr>
            <a:r>
              <a:rPr lang="cs-CZ" altLang="cs-CZ" sz="2200"/>
              <a:t>ostře je vykresleno jen popředí v dosahu blesku,</a:t>
            </a:r>
            <a:br>
              <a:rPr lang="cs-CZ" altLang="cs-CZ" sz="2200"/>
            </a:br>
            <a:r>
              <a:rPr lang="cs-CZ" altLang="cs-CZ" sz="2200"/>
              <a:t>(cca do 5m)</a:t>
            </a:r>
          </a:p>
          <a:p>
            <a:pPr lvl="1">
              <a:lnSpc>
                <a:spcPct val="80000"/>
              </a:lnSpc>
            </a:pPr>
            <a:r>
              <a:rPr lang="cs-CZ" altLang="cs-CZ" sz="2200"/>
              <a:t>pevná ruka často nestačí, velmi užitečný je stativ</a:t>
            </a:r>
          </a:p>
        </p:txBody>
      </p:sp>
      <p:pic>
        <p:nvPicPr>
          <p:cNvPr id="284677" name="Picture 5">
            <a:extLst>
              <a:ext uri="{FF2B5EF4-FFF2-40B4-BE49-F238E27FC236}">
                <a16:creationId xmlns:a16="http://schemas.microsoft.com/office/drawing/2014/main" id="{627CA91F-6F17-2EB8-FA6E-DF524CD3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92375"/>
            <a:ext cx="4319588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8F7C4B1-EC4A-656C-39F9-CDEFFD19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B2FD5-33D1-49D3-AF13-3525C98F59B5}" type="slidenum">
              <a:rPr lang="cs-CZ" altLang="en-US"/>
              <a:pPr/>
              <a:t>35</a:t>
            </a:fld>
            <a:endParaRPr lang="cs-CZ" altLang="en-US"/>
          </a:p>
        </p:txBody>
      </p:sp>
      <p:sp>
        <p:nvSpPr>
          <p:cNvPr id="286722" name="Rectangle 2">
            <a:extLst>
              <a:ext uri="{FF2B5EF4-FFF2-40B4-BE49-F238E27FC236}">
                <a16:creationId xmlns:a16="http://schemas.microsoft.com/office/drawing/2014/main" id="{AC811453-351B-ABDE-0015-64954F078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Režim Makro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6DEBB801-04FE-BF56-8132-1260D90FB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3394075" cy="4518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sz="2600"/>
              <a:t>nastavení: 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blízké objekty odrážejí málo světla, proto fotoaparát musí nastavit nízkou clonu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vzdálenost předmětu od cca 0.5 cm</a:t>
            </a:r>
          </a:p>
          <a:p>
            <a:pPr>
              <a:lnSpc>
                <a:spcPct val="90000"/>
              </a:lnSpc>
            </a:pPr>
            <a:r>
              <a:rPr lang="cs-CZ" altLang="cs-CZ" sz="2600"/>
              <a:t>výsledek:</a:t>
            </a:r>
          </a:p>
          <a:p>
            <a:pPr lvl="1">
              <a:lnSpc>
                <a:spcPct val="90000"/>
              </a:lnSpc>
            </a:pPr>
            <a:r>
              <a:rPr lang="cs-CZ" altLang="cs-CZ" sz="2200"/>
              <a:t>velmi nízká hloubka ostrosti</a:t>
            </a:r>
          </a:p>
        </p:txBody>
      </p:sp>
      <p:pic>
        <p:nvPicPr>
          <p:cNvPr id="286725" name="Picture 5">
            <a:extLst>
              <a:ext uri="{FF2B5EF4-FFF2-40B4-BE49-F238E27FC236}">
                <a16:creationId xmlns:a16="http://schemas.microsoft.com/office/drawing/2014/main" id="{42834C0D-E554-2202-8C95-5A5EE0DBC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060575"/>
            <a:ext cx="5030788" cy="37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84D8235-BBF6-98E3-E5B2-871B0A32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3CFC-F486-4439-8987-248729A09B76}" type="slidenum">
              <a:rPr lang="cs-CZ" altLang="en-US"/>
              <a:pPr/>
              <a:t>36</a:t>
            </a:fld>
            <a:endParaRPr lang="cs-CZ" altLang="en-US"/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82E3D7AE-9173-EEC4-321E-BD6788968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Další režimy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6FF36021-C76B-EA78-AA28-903C7FEC5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b="1"/>
              <a:t>S</a:t>
            </a:r>
            <a:r>
              <a:rPr lang="cs-CZ" altLang="cs-CZ"/>
              <a:t> (nastavení času) </a:t>
            </a:r>
          </a:p>
          <a:p>
            <a:pPr>
              <a:lnSpc>
                <a:spcPct val="90000"/>
              </a:lnSpc>
            </a:pPr>
            <a:r>
              <a:rPr lang="cs-CZ" altLang="cs-CZ" b="1"/>
              <a:t>A</a:t>
            </a:r>
            <a:r>
              <a:rPr lang="cs-CZ" altLang="cs-CZ"/>
              <a:t> (nastavení clony) </a:t>
            </a:r>
          </a:p>
          <a:p>
            <a:pPr>
              <a:lnSpc>
                <a:spcPct val="90000"/>
              </a:lnSpc>
            </a:pPr>
            <a:r>
              <a:rPr lang="cs-CZ" altLang="cs-CZ" b="1"/>
              <a:t>M</a:t>
            </a:r>
            <a:r>
              <a:rPr lang="cs-CZ" altLang="cs-CZ"/>
              <a:t> (manuální nastavení </a:t>
            </a:r>
            <a:br>
              <a:rPr lang="cs-CZ" altLang="cs-CZ"/>
            </a:br>
            <a:r>
              <a:rPr lang="cs-CZ" altLang="cs-CZ"/>
              <a:t>     clony i času)</a:t>
            </a:r>
          </a:p>
          <a:p>
            <a:pPr>
              <a:lnSpc>
                <a:spcPct val="90000"/>
              </a:lnSpc>
            </a:pPr>
            <a:r>
              <a:rPr lang="cs-CZ" altLang="cs-CZ" b="1"/>
              <a:t>videosekvence</a:t>
            </a:r>
            <a:r>
              <a:rPr lang="cs-CZ" altLang="cs-CZ"/>
              <a:t> (filmový pás)</a:t>
            </a:r>
          </a:p>
          <a:p>
            <a:pPr>
              <a:lnSpc>
                <a:spcPct val="90000"/>
              </a:lnSpc>
            </a:pPr>
            <a:r>
              <a:rPr lang="cs-CZ" altLang="cs-CZ" b="1"/>
              <a:t>volitený, SCN</a:t>
            </a:r>
            <a:r>
              <a:rPr lang="cs-CZ" altLang="cs-CZ"/>
              <a:t>: momentka, svíčka, pláž, pohyb, párty, sníh, ohňostroj, děti, obloha...</a:t>
            </a:r>
          </a:p>
          <a:p>
            <a:pPr>
              <a:lnSpc>
                <a:spcPct val="90000"/>
              </a:lnSpc>
            </a:pPr>
            <a:r>
              <a:rPr lang="cs-CZ" altLang="cs-CZ"/>
              <a:t>elektronické filtry: ČB fotografie, sephia, negativ, 2 barvy...</a:t>
            </a:r>
          </a:p>
        </p:txBody>
      </p:sp>
      <p:pic>
        <p:nvPicPr>
          <p:cNvPr id="287748" name="Picture 4">
            <a:extLst>
              <a:ext uri="{FF2B5EF4-FFF2-40B4-BE49-F238E27FC236}">
                <a16:creationId xmlns:a16="http://schemas.microsoft.com/office/drawing/2014/main" id="{5D871193-3993-AD9D-5524-F5A4BC51B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557338"/>
            <a:ext cx="2087563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íť">
  <a:themeElements>
    <a:clrScheme name="Síť 11">
      <a:dk1>
        <a:srgbClr val="000000"/>
      </a:dk1>
      <a:lt1>
        <a:srgbClr val="FFFFFF"/>
      </a:lt1>
      <a:dk2>
        <a:srgbClr val="006600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íť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íť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íť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íť 11">
        <a:dk1>
          <a:srgbClr val="000000"/>
        </a:dk1>
        <a:lt1>
          <a:srgbClr val="FFFFFF"/>
        </a:lt1>
        <a:dk2>
          <a:srgbClr val="006600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4672E67BBE6E4F86992DD318B65C2D" ma:contentTypeVersion="11" ma:contentTypeDescription="Vytvoří nový dokument" ma:contentTypeScope="" ma:versionID="718c769fb616eb24d3a3a419d517197c">
  <xsd:schema xmlns:xsd="http://www.w3.org/2001/XMLSchema" xmlns:xs="http://www.w3.org/2001/XMLSchema" xmlns:p="http://schemas.microsoft.com/office/2006/metadata/properties" xmlns:ns2="5286730a-25bc-4e01-8bd3-733cbbfabeec" xmlns:ns3="8d61dfef-e2ba-4bfa-99a3-b2b7d6b735f8" targetNamespace="http://schemas.microsoft.com/office/2006/metadata/properties" ma:root="true" ma:fieldsID="3312bd17b82dc3b10653c02e7e2981a3" ns2:_="" ns3:_="">
    <xsd:import namespace="5286730a-25bc-4e01-8bd3-733cbbfabeec"/>
    <xsd:import namespace="8d61dfef-e2ba-4bfa-99a3-b2b7d6b735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6730a-25bc-4e01-8bd3-733cbbfab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cac3c45c-c2eb-42cc-84e6-8cb35b084e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61dfef-e2ba-4bfa-99a3-b2b7d6b735f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fb16449-7eea-4409-96b3-23f1620c7c4e}" ma:internalName="TaxCatchAll" ma:showField="CatchAllData" ma:web="8d61dfef-e2ba-4bfa-99a3-b2b7d6b735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61dfef-e2ba-4bfa-99a3-b2b7d6b735f8" xsi:nil="true"/>
    <lcf76f155ced4ddcb4097134ff3c332f xmlns="5286730a-25bc-4e01-8bd3-733cbbfabee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9F1AF63-AFA9-41D3-A76B-51F513495A33}"/>
</file>

<file path=customXml/itemProps2.xml><?xml version="1.0" encoding="utf-8"?>
<ds:datastoreItem xmlns:ds="http://schemas.openxmlformats.org/officeDocument/2006/customXml" ds:itemID="{94BB5736-5E14-4B15-A672-E681096683CA}"/>
</file>

<file path=customXml/itemProps3.xml><?xml version="1.0" encoding="utf-8"?>
<ds:datastoreItem xmlns:ds="http://schemas.openxmlformats.org/officeDocument/2006/customXml" ds:itemID="{0C34942B-25B2-469F-90A7-855F15BF2EC1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2309</TotalTime>
  <Words>1355</Words>
  <Application>Microsoft Office PowerPoint</Application>
  <PresentationFormat>Předvádění na obrazovce (4:3)</PresentationFormat>
  <Paragraphs>275</Paragraphs>
  <Slides>36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36</vt:i4>
      </vt:variant>
    </vt:vector>
  </HeadingPairs>
  <TitlesOfParts>
    <vt:vector size="41" baseType="lpstr">
      <vt:lpstr>Arial</vt:lpstr>
      <vt:lpstr>Times New Roman</vt:lpstr>
      <vt:lpstr>Wingdings</vt:lpstr>
      <vt:lpstr>Tahoma</vt:lpstr>
      <vt:lpstr>Síť</vt:lpstr>
      <vt:lpstr>Fotografování</vt:lpstr>
      <vt:lpstr>Prezentace aplikace PowerPoint</vt:lpstr>
      <vt:lpstr>Fotoaparát</vt:lpstr>
      <vt:lpstr>Klasické fotoaparáty</vt:lpstr>
      <vt:lpstr>Klasické fotoaparáty</vt:lpstr>
      <vt:lpstr>Digitální fotoaparáty</vt:lpstr>
      <vt:lpstr>Digitální fotoaparáty</vt:lpstr>
      <vt:lpstr>Digitální fotoaparáty</vt:lpstr>
      <vt:lpstr>Digitální fotoaparáty - rozdělení</vt:lpstr>
      <vt:lpstr>Princip „zrcadlovky“</vt:lpstr>
      <vt:lpstr>Objektivy</vt:lpstr>
      <vt:lpstr>Přiblížení - ZOOM</vt:lpstr>
      <vt:lpstr>Přiblížení – ZOOM (ukázka)</vt:lpstr>
      <vt:lpstr>Ostření</vt:lpstr>
      <vt:lpstr>Stabilizace obrazu</vt:lpstr>
      <vt:lpstr>Snímací prvek </vt:lpstr>
      <vt:lpstr>Velikosti fotografií (300dpi)</vt:lpstr>
      <vt:lpstr>Uložiště dat</vt:lpstr>
      <vt:lpstr>Expozice </vt:lpstr>
      <vt:lpstr>Expozice - Clona</vt:lpstr>
      <vt:lpstr>Expozice - Clona</vt:lpstr>
      <vt:lpstr>Expozice  velká hloubka ostrosti (vše je ostré)</vt:lpstr>
      <vt:lpstr>Expozice  malá hloubka ostrosti (jen objekt je ostrý)</vt:lpstr>
      <vt:lpstr>Expozice - Čas</vt:lpstr>
      <vt:lpstr>Závěrka</vt:lpstr>
      <vt:lpstr>Expozice - měření</vt:lpstr>
      <vt:lpstr>Expozice - měření</vt:lpstr>
      <vt:lpstr>Expozice - měření</vt:lpstr>
      <vt:lpstr>Režimy fotografování</vt:lpstr>
      <vt:lpstr>Režim AUTO</vt:lpstr>
      <vt:lpstr>Režim Portrét</vt:lpstr>
      <vt:lpstr>Režim Krajina</vt:lpstr>
      <vt:lpstr>Režim Sport</vt:lpstr>
      <vt:lpstr>Režim Noc</vt:lpstr>
      <vt:lpstr>Režim Makro</vt:lpstr>
      <vt:lpstr>Další režimy</vt:lpstr>
    </vt:vector>
  </TitlesOfParts>
  <Company>DATAX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Grafika</dc:title>
  <dc:creator>Josef Bašta </dc:creator>
  <cp:lastModifiedBy>Fojtík Jan</cp:lastModifiedBy>
  <cp:revision>61</cp:revision>
  <dcterms:created xsi:type="dcterms:W3CDTF">2007-12-04T18:54:10Z</dcterms:created>
  <dcterms:modified xsi:type="dcterms:W3CDTF">2024-01-08T08:12:39Z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0x010100934672E67BBE6E4F86992DD318B65C2D</vt:lpwstr>
  </property>
</Properties>
</file>