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69" r:id="rId18"/>
    <p:sldId id="274" r:id="rId19"/>
    <p:sldId id="275" r:id="rId20"/>
    <p:sldId id="273" r:id="rId21"/>
    <p:sldId id="276" r:id="rId22"/>
    <p:sldId id="300" r:id="rId23"/>
    <p:sldId id="293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A566AF-F9B7-D559-7CB2-CD7B7F19D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F8131EE-7836-5530-2872-CCB98EFFC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95D034-3FD4-3CBC-689A-F9DEC6C4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1B6AAD-CA31-1759-8890-72CC0AD3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2E4005E-5189-0048-DBA2-12773D47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950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09E4F-DAC6-6109-9FCF-44448929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0C4A46-0382-0B36-42F9-5698722E9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ABE914-388F-080A-6214-3D204256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E71AB4-E694-B242-EE57-8CA662CE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207823-598B-1A6E-F803-830965BC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006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386872-F7D0-5A5B-C24D-7FE2855E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07B51FF-B358-880E-A71F-225E411E5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83463D-1111-41C9-B9C2-77D6B756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06CF50D-BA43-33C5-1177-EF1BBAD7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9E5D4D1-5578-099B-1033-1B5C6CEF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026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2A45F0-A614-462F-8BB4-06A43966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281A10-F81B-B258-6569-59EA5B987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B909D28-EDD1-7E5F-DC8F-7F2AB295A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45F43B5-D710-BFD4-9085-96BA9D5D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9236BE6-98BF-013D-556A-E3BC9C32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9AB61DE-FBA8-5103-7D09-7BAEA325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79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9CBFB0-1F54-BF71-858A-7F2FC536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1437996-BB02-4D9A-FDF0-B274E98DF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E5CEDA-328E-D53D-6A33-9459493DC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2219DDC-FB9A-B786-85DE-116F0D7EE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A572E83-D3DB-EF3D-C145-AEE2E427D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2B34F2B-6686-9F72-4738-2E9B8F77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C23A809-C29E-D806-CB0D-B14733AE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A486161-202D-30D9-75D3-5DA296AA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85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41FA70-B04F-5D6C-562F-96A4F08D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74DF60E-ABE4-E669-A89C-E5E79589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67A5CE8-A370-099B-9578-21541904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149BCFA-0E47-F1E7-A000-C1B49050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573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26114C1-5E1E-CFF7-668F-9473C2EA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B4D0D04-EA78-0460-C7BD-23383A79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3FB5F1F-6C24-EB61-700C-A184CB8D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973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F95567-E2EA-FB0C-850B-7AE2B7D5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9FA09B-67E1-D8D8-07FA-F85BD2226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F8B4BD9-AFAD-3B53-BC2E-0EF7CD8B8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EA59B57-6FBF-18EF-DD3E-401BE3C0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55395E6-A057-DA91-1B34-06303E24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4C2E883-C457-1A0D-E110-E967D1DB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146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9319B1-868F-1BD1-6196-5E863934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91F890D-8571-79C5-8B2E-9673EBAD4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CA7C7B0-E23B-AD7A-57ED-BA096BE5C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0C39706-8D22-4784-C740-2268EFC2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5940211-73D9-CE6D-4FC3-21F92B1F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74FB26A-11A1-35E4-0BE5-67CFE006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035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D36BCE-FC2F-8FE0-A712-40505C17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2E1CBBF-51BF-BF3E-48D5-EF16D953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AAF765-AB0E-E4E4-4FD7-2F044D59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D25785B-6DF6-C21B-8579-C1AE160F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9F8B35B-58BB-B070-0E0D-C3B9DC26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785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E597990-F2E6-184F-E2F1-2780FDB3F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438EDD-27A0-9321-E162-879B223E7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DDA2C13-D6AA-D128-1C39-F37F079F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D9648B-B750-6C71-3387-2044B978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32975C-C3D1-6EDC-31E2-8ECC68D7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31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F853019-AA65-240D-870A-04679669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B17B3D-450D-3017-59F3-F98FCCE49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92B130-72C2-1CB2-4575-87B7A6BD7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CA303-AE51-4F1F-9E31-1CEEE1FDEA98}" type="datetimeFigureOut">
              <a:rPr lang="cs-CZ" smtClean="0"/>
              <a:t>01.06.2023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4FBE18-3820-15C3-7AF6-861EDA8AA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9E2729-5637-3176-C3CA-0842DEB39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E0875-7F5A-45DE-97E5-1ECDCA2D396A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CB1C197-5BDF-6D11-3909-4BA366A2BF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152312" y="365125"/>
            <a:ext cx="2201488" cy="144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8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Jokerman" panose="04090605060D06020702" pitchFamily="8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Jokerman" panose="04090605060D06020702" pitchFamily="8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Jokerman" panose="04090605060D06020702" pitchFamily="8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Jokerman" panose="04090605060D06020702" pitchFamily="8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Jokerman" panose="04090605060D06020702" pitchFamily="8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Jokerman" panose="04090605060D06020702" pitchFamily="8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E9qpbt0v5Hw&amp;ab_channel=uclaphysicsvide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en.wikipedia.org/wiki/File:E_Ink_Screen_updating.webm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E8F781-57AE-9263-2F03-395478B1D1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Monitory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A365957-6438-6433-C29B-DF794CCFA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208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45AD7E-C2E8-0B7B-7026-E2FFA407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monitor?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376A5A-8144-1F56-2524-9C34C1362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 sz="2800" dirty="0"/>
              <a:t>Základní výstupní zařízení počítače</a:t>
            </a:r>
          </a:p>
          <a:p>
            <a:r>
              <a:rPr lang="cs-CZ" altLang="cs-CZ" sz="2800" dirty="0"/>
              <a:t>Slouží k zobrazování textových i grafických informací.</a:t>
            </a:r>
          </a:p>
          <a:p>
            <a:r>
              <a:rPr lang="cs-CZ" altLang="cs-CZ" sz="2600" dirty="0"/>
              <a:t>Existuje mnoho hledisek - parametrů, podle kterých lze monitory rozdělit:</a:t>
            </a:r>
          </a:p>
          <a:p>
            <a:pPr lvl="1"/>
            <a:r>
              <a:rPr lang="cs-CZ" altLang="cs-CZ" sz="2500" dirty="0">
                <a:solidFill>
                  <a:schemeClr val="tx2"/>
                </a:solidFill>
              </a:rPr>
              <a:t>Počet zobrazovaných barev </a:t>
            </a:r>
          </a:p>
          <a:p>
            <a:pPr lvl="1"/>
            <a:r>
              <a:rPr lang="cs-CZ" altLang="cs-CZ" sz="2500" dirty="0">
                <a:solidFill>
                  <a:schemeClr val="tx2"/>
                </a:solidFill>
              </a:rPr>
              <a:t>Velikost úhlopříčky, poměr stran </a:t>
            </a:r>
          </a:p>
          <a:p>
            <a:pPr lvl="1"/>
            <a:r>
              <a:rPr lang="cs-CZ" altLang="cs-CZ" sz="2500" dirty="0">
                <a:solidFill>
                  <a:schemeClr val="tx2"/>
                </a:solidFill>
              </a:rPr>
              <a:t>Rozlišení</a:t>
            </a:r>
          </a:p>
          <a:p>
            <a:pPr lvl="1"/>
            <a:r>
              <a:rPr lang="cs-CZ" altLang="cs-CZ" sz="2500" dirty="0">
                <a:solidFill>
                  <a:schemeClr val="tx2"/>
                </a:solidFill>
              </a:rPr>
              <a:t>Obnovovací frekvence </a:t>
            </a:r>
          </a:p>
          <a:p>
            <a:pPr lvl="1"/>
            <a:r>
              <a:rPr lang="cs-CZ" altLang="cs-CZ" sz="2500" dirty="0">
                <a:solidFill>
                  <a:schemeClr val="tx2"/>
                </a:solidFill>
              </a:rPr>
              <a:t>Technologie monitoru</a:t>
            </a:r>
          </a:p>
        </p:txBody>
      </p:sp>
    </p:spTree>
    <p:extLst>
      <p:ext uri="{BB962C8B-B14F-4D97-AF65-F5344CB8AC3E}">
        <p14:creationId xmlns:p14="http://schemas.microsoft.com/office/powerpoint/2010/main" val="425295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3B5324-FF62-96D0-A975-88DC4759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Monochromatický monitor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ACAB9F-1626-E133-64D2-46881C95E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91182" cy="4351338"/>
          </a:xfrm>
        </p:spPr>
        <p:txBody>
          <a:bodyPr/>
          <a:lstStyle/>
          <a:p>
            <a:r>
              <a:rPr lang="cs-CZ" altLang="cs-CZ" dirty="0"/>
              <a:t>Mají pouze jednu barvu</a:t>
            </a:r>
          </a:p>
          <a:p>
            <a:r>
              <a:rPr lang="cs-CZ" altLang="cs-CZ" dirty="0"/>
              <a:t>Nejčastěji LCD</a:t>
            </a:r>
          </a:p>
          <a:p>
            <a:r>
              <a:rPr lang="cs-CZ" altLang="cs-CZ" dirty="0"/>
              <a:t>Pozitivní a negativní princip</a:t>
            </a:r>
          </a:p>
          <a:p>
            <a:r>
              <a:rPr lang="cs-CZ" altLang="cs-CZ" dirty="0"/>
              <a:t>Používá se často v jednodušších zařízeních jako je kalkulačka</a:t>
            </a:r>
          </a:p>
          <a:p>
            <a:endParaRPr lang="cs-CZ" dirty="0"/>
          </a:p>
        </p:txBody>
      </p:sp>
      <p:pic>
        <p:nvPicPr>
          <p:cNvPr id="2052" name="Picture 4" descr="162K CC BC-3LP | Monochromatický LCD displej, řada: 162K Alfanumerické,  Přenosový, Displaytech | RS">
            <a:extLst>
              <a:ext uri="{FF2B5EF4-FFF2-40B4-BE49-F238E27FC236}">
                <a16:creationId xmlns:a16="http://schemas.microsoft.com/office/drawing/2014/main" id="{3490308F-FFA8-882B-C03D-85E1331815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6" t="26818" r="24290" b="28147"/>
          <a:stretch/>
        </p:blipFill>
        <p:spPr bwMode="auto">
          <a:xfrm>
            <a:off x="8336503" y="75501"/>
            <a:ext cx="3855497" cy="192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161336F8-0BA0-FA9A-B04E-9BF6E5B16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966" y="1825625"/>
            <a:ext cx="3485598" cy="160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EF2572-E376-AFFA-1A91-E5D51C91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Černobílé monitory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C22EB0-3931-2C5A-CF00-824FABFF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75583" cy="4351338"/>
          </a:xfrm>
        </p:spPr>
        <p:txBody>
          <a:bodyPr/>
          <a:lstStyle/>
          <a:p>
            <a:r>
              <a:rPr lang="cs-CZ" dirty="0"/>
              <a:t>Typ monochromatického displeje</a:t>
            </a:r>
          </a:p>
          <a:p>
            <a:r>
              <a:rPr lang="cs-CZ" dirty="0"/>
              <a:t>Zobrazuje obraz ve stupních šedi</a:t>
            </a:r>
          </a:p>
          <a:p>
            <a:r>
              <a:rPr lang="cs-CZ" dirty="0"/>
              <a:t>Použití v medicínských oblastech</a:t>
            </a:r>
          </a:p>
          <a:p>
            <a:endParaRPr lang="cs-CZ" dirty="0"/>
          </a:p>
        </p:txBody>
      </p:sp>
      <p:pic>
        <p:nvPicPr>
          <p:cNvPr id="3074" name="Picture 2" descr="NEC 21&quot; Grayscale 3-Megapixel Medical Diagnostic Monitor">
            <a:extLst>
              <a:ext uri="{FF2B5EF4-FFF2-40B4-BE49-F238E27FC236}">
                <a16:creationId xmlns:a16="http://schemas.microsoft.com/office/drawing/2014/main" id="{EABC6E4E-D831-8C06-CB3D-0B83A95F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76" y="125834"/>
            <a:ext cx="2496599" cy="249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45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5C3058-D23D-BC8F-C580-4C947E5C6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Barevné monitory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0637B7-A8A7-70A7-1E04-11F3CFF4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077587" cy="4351338"/>
          </a:xfrm>
        </p:spPr>
        <p:txBody>
          <a:bodyPr/>
          <a:lstStyle/>
          <a:p>
            <a:r>
              <a:rPr lang="cs-CZ" dirty="0"/>
              <a:t>Umožňují zobrazovat barevný obraz</a:t>
            </a:r>
          </a:p>
          <a:p>
            <a:r>
              <a:rPr lang="cs-CZ" dirty="0"/>
              <a:t>Barevná hloubka 8 nebo 10 bitů na kanál, případně 8 bitů + FRC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1026" name="Picture 2" descr="8-Bit vs.10-Bit Video: What's the Difference? - The Broadcast Bridge -  Connecting IT to Broadcast">
            <a:extLst>
              <a:ext uri="{FF2B5EF4-FFF2-40B4-BE49-F238E27FC236}">
                <a16:creationId xmlns:a16="http://schemas.microsoft.com/office/drawing/2014/main" id="{A8E87B64-4D1C-6908-6DA2-A4F31C015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837" y="3237702"/>
            <a:ext cx="6980326" cy="349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0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2369E8-E845-30D8-3802-31C29D7E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Poměr stran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BBE5FA-3DF4-FF46-42AB-A7EF2EF1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100" name="Picture 4" descr="Our Monitor Input Tests: Resolution and Size - RTINGS.com">
            <a:extLst>
              <a:ext uri="{FF2B5EF4-FFF2-40B4-BE49-F238E27FC236}">
                <a16:creationId xmlns:a16="http://schemas.microsoft.com/office/drawing/2014/main" id="{1DB228C4-A14F-9401-2C74-8742A4F83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873" y="1825625"/>
            <a:ext cx="8050253" cy="409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91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4FC36C-4A41-4E22-16D6-6CC27711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Rozlišení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E1A1F4-4D68-E818-7CF2-A343C3579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Udává, z kolika pixelů je tvořen monitor</a:t>
            </a:r>
          </a:p>
          <a:p>
            <a:r>
              <a:rPr lang="cs-CZ" dirty="0"/>
              <a:t>Je to </a:t>
            </a:r>
            <a:r>
              <a:rPr lang="cs-CZ" altLang="cs-CZ" sz="2800" dirty="0">
                <a:solidFill>
                  <a:srgbClr val="0066FF"/>
                </a:solidFill>
              </a:rPr>
              <a:t>počet bodů na šířku</a:t>
            </a:r>
            <a:r>
              <a:rPr lang="cs-CZ" altLang="cs-CZ" sz="2800" dirty="0"/>
              <a:t> x </a:t>
            </a:r>
            <a:r>
              <a:rPr lang="cs-CZ" altLang="cs-CZ" sz="2800" dirty="0">
                <a:solidFill>
                  <a:srgbClr val="D60093"/>
                </a:solidFill>
              </a:rPr>
              <a:t>počet bodů na výšku</a:t>
            </a:r>
          </a:p>
          <a:p>
            <a:endParaRPr lang="cs-CZ" altLang="cs-CZ" sz="2800" dirty="0">
              <a:solidFill>
                <a:srgbClr val="D60093"/>
              </a:solidFill>
            </a:endParaRPr>
          </a:p>
          <a:p>
            <a:pPr lvl="1"/>
            <a:r>
              <a:rPr lang="cs-CZ" altLang="cs-CZ" b="1" dirty="0">
                <a:solidFill>
                  <a:schemeClr val="tx2"/>
                </a:solidFill>
              </a:rPr>
              <a:t>4:3</a:t>
            </a:r>
            <a:r>
              <a:rPr lang="cs-CZ" altLang="cs-CZ" dirty="0"/>
              <a:t> - 640x480, 800x600, 1024x768, 1600x1200 </a:t>
            </a:r>
          </a:p>
          <a:p>
            <a:pPr lvl="1"/>
            <a:r>
              <a:rPr lang="cs-CZ" altLang="cs-CZ" b="1" dirty="0">
                <a:solidFill>
                  <a:schemeClr val="tx2"/>
                </a:solidFill>
              </a:rPr>
              <a:t>5:4</a:t>
            </a:r>
            <a:r>
              <a:rPr lang="cs-CZ" altLang="cs-CZ" dirty="0"/>
              <a:t> - 1280x1024</a:t>
            </a:r>
          </a:p>
          <a:p>
            <a:pPr lvl="1"/>
            <a:r>
              <a:rPr lang="cs-CZ" altLang="cs-CZ" b="1" dirty="0">
                <a:solidFill>
                  <a:schemeClr val="tx2"/>
                </a:solidFill>
              </a:rPr>
              <a:t>16:9</a:t>
            </a:r>
            <a:r>
              <a:rPr lang="cs-CZ" altLang="cs-CZ" dirty="0"/>
              <a:t> – 1280x700, 1366x768, 1920x1080 </a:t>
            </a:r>
          </a:p>
          <a:p>
            <a:pPr lvl="1"/>
            <a:r>
              <a:rPr lang="cs-CZ" altLang="cs-CZ" b="1" dirty="0">
                <a:solidFill>
                  <a:schemeClr val="tx2"/>
                </a:solidFill>
              </a:rPr>
              <a:t>16:10</a:t>
            </a:r>
            <a:r>
              <a:rPr lang="cs-CZ" altLang="cs-CZ" dirty="0"/>
              <a:t> - 1440x900,  1680x1050, 1920x1200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35436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4E2576-50A2-59EA-F744-5DCA4E22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PPI (</a:t>
            </a:r>
            <a:r>
              <a:rPr lang="cs-CZ" dirty="0" err="1"/>
              <a:t>pixels</a:t>
            </a:r>
            <a:r>
              <a:rPr lang="cs-CZ" dirty="0"/>
              <a:t> per </a:t>
            </a:r>
            <a:r>
              <a:rPr lang="cs-CZ" dirty="0" err="1"/>
              <a:t>inch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EA8C99-2656-761B-5A40-2C5C06BE7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93029" cy="4351338"/>
          </a:xfrm>
        </p:spPr>
        <p:txBody>
          <a:bodyPr/>
          <a:lstStyle/>
          <a:p>
            <a:r>
              <a:rPr lang="cs-CZ" dirty="0"/>
              <a:t>Udává počet pixelů na jeden palec</a:t>
            </a:r>
          </a:p>
          <a:p>
            <a:r>
              <a:rPr lang="cs-CZ" dirty="0"/>
              <a:t>Ekvivalent DPI (</a:t>
            </a:r>
            <a:r>
              <a:rPr lang="cs-CZ" dirty="0" err="1"/>
              <a:t>dots</a:t>
            </a:r>
            <a:r>
              <a:rPr lang="cs-CZ" dirty="0"/>
              <a:t> per </a:t>
            </a:r>
            <a:r>
              <a:rPr lang="cs-CZ" dirty="0" err="1"/>
              <a:t>inch</a:t>
            </a:r>
            <a:r>
              <a:rPr lang="cs-CZ" dirty="0"/>
              <a:t>) pro monitory</a:t>
            </a:r>
          </a:p>
          <a:p>
            <a:r>
              <a:rPr lang="cs-CZ" dirty="0"/>
              <a:t>Nezávisí pouze na rozlišení, ale také na velikosti monitoru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0544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757A9-1636-F621-DB61-0D0AE1BD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Obnovovací frekvence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1E412B-1A83-092C-D076-CF7BFC7F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Udává </a:t>
            </a:r>
            <a:r>
              <a:rPr lang="cs-CZ" altLang="cs-CZ" sz="2800" dirty="0"/>
              <a:t>kolikrát je monitor schopen překreslit obraz na obrazovce za jednu sekundu</a:t>
            </a:r>
          </a:p>
          <a:p>
            <a:r>
              <a:rPr lang="cs-CZ" altLang="cs-CZ" dirty="0"/>
              <a:t>Běžné hodnoty jsou 50 – 240 Hz</a:t>
            </a:r>
          </a:p>
          <a:p>
            <a:endParaRPr lang="en-US" altLang="cs-CZ" sz="28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5394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DD8B41-B330-7665-7A27-64440C86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Technologie monitorů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DB0092-3CE5-D54C-4714-D3E85DDC9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CRT - </a:t>
            </a:r>
            <a:r>
              <a:rPr lang="cs-CZ" altLang="cs-CZ" sz="2800" b="1" dirty="0"/>
              <a:t>(</a:t>
            </a:r>
            <a:r>
              <a:rPr lang="cs-CZ" altLang="cs-CZ" sz="2800" b="1" dirty="0" err="1"/>
              <a:t>Cathode</a:t>
            </a:r>
            <a:r>
              <a:rPr lang="cs-CZ" altLang="cs-CZ" sz="2800" b="1" dirty="0"/>
              <a:t> </a:t>
            </a:r>
            <a:r>
              <a:rPr lang="cs-CZ" altLang="cs-CZ" sz="2800" b="1" dirty="0" err="1"/>
              <a:t>Ray</a:t>
            </a:r>
            <a:r>
              <a:rPr lang="cs-CZ" altLang="cs-CZ" sz="2800" b="1" dirty="0"/>
              <a:t> Tube) </a:t>
            </a:r>
          </a:p>
          <a:p>
            <a:r>
              <a:rPr lang="cs-CZ" b="1" dirty="0"/>
              <a:t>LCD – (</a:t>
            </a:r>
            <a:r>
              <a:rPr lang="cs-CZ" altLang="cs-CZ" b="1" dirty="0" err="1"/>
              <a:t>Liquid</a:t>
            </a:r>
            <a:r>
              <a:rPr lang="cs-CZ" altLang="cs-CZ" b="1" dirty="0"/>
              <a:t> </a:t>
            </a:r>
            <a:r>
              <a:rPr lang="cs-CZ" altLang="cs-CZ" b="1" dirty="0" err="1"/>
              <a:t>Crystal</a:t>
            </a:r>
            <a:r>
              <a:rPr lang="cs-CZ" altLang="cs-CZ" b="1" dirty="0"/>
              <a:t> Display)</a:t>
            </a:r>
          </a:p>
          <a:p>
            <a:r>
              <a:rPr lang="cs-CZ" b="1" dirty="0"/>
              <a:t>OLED – (</a:t>
            </a:r>
            <a:r>
              <a:rPr lang="cs-CZ" b="1" dirty="0" err="1"/>
              <a:t>Organic</a:t>
            </a:r>
            <a:r>
              <a:rPr lang="cs-CZ" b="1" dirty="0"/>
              <a:t> </a:t>
            </a:r>
            <a:r>
              <a:rPr lang="cs-CZ" b="1" dirty="0" err="1"/>
              <a:t>Light</a:t>
            </a:r>
            <a:r>
              <a:rPr lang="cs-CZ" b="1" dirty="0"/>
              <a:t> </a:t>
            </a:r>
            <a:r>
              <a:rPr lang="cs-CZ" b="1" dirty="0" err="1"/>
              <a:t>Emitting</a:t>
            </a:r>
            <a:r>
              <a:rPr lang="cs-CZ" b="1" dirty="0"/>
              <a:t> </a:t>
            </a:r>
            <a:r>
              <a:rPr lang="cs-CZ" b="1" dirty="0" err="1"/>
              <a:t>Diode</a:t>
            </a:r>
            <a:r>
              <a:rPr lang="cs-CZ" b="1" dirty="0"/>
              <a:t>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12615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7F8F0E-787D-C6A1-E19A-F869367F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CRT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DCEE0-5250-B6B8-58EF-E79F2BFB9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18196" cy="4351338"/>
          </a:xfrm>
        </p:spPr>
        <p:txBody>
          <a:bodyPr/>
          <a:lstStyle/>
          <a:p>
            <a:r>
              <a:rPr lang="cs-CZ" altLang="cs-CZ" sz="2800" dirty="0"/>
              <a:t>Základem obrazovky je </a:t>
            </a:r>
            <a:r>
              <a:rPr lang="cs-CZ" altLang="cs-CZ" sz="2800" dirty="0">
                <a:solidFill>
                  <a:srgbClr val="0066FF"/>
                </a:solidFill>
              </a:rPr>
              <a:t>katodová trubice</a:t>
            </a:r>
          </a:p>
          <a:p>
            <a:r>
              <a:rPr lang="cs-CZ" altLang="cs-CZ" sz="2800" dirty="0"/>
              <a:t>Ze tří katod – „elektronových trysek“ </a:t>
            </a:r>
            <a:br>
              <a:rPr lang="cs-CZ" altLang="cs-CZ" sz="2800" dirty="0"/>
            </a:br>
            <a:r>
              <a:rPr lang="cs-CZ" altLang="cs-CZ" sz="2800" dirty="0"/>
              <a:t>jsou emitovány </a:t>
            </a:r>
            <a:r>
              <a:rPr lang="cs-CZ" altLang="cs-CZ" sz="2800" dirty="0">
                <a:solidFill>
                  <a:srgbClr val="0066FF"/>
                </a:solidFill>
              </a:rPr>
              <a:t>tři paprsky elektronů</a:t>
            </a:r>
            <a:endParaRPr lang="cs-CZ" altLang="cs-CZ" dirty="0">
              <a:solidFill>
                <a:srgbClr val="0066FF"/>
              </a:solidFill>
            </a:endParaRPr>
          </a:p>
          <a:p>
            <a:r>
              <a:rPr lang="cs-CZ" altLang="cs-CZ" sz="2800" dirty="0"/>
              <a:t>Ty prochází otvory v masce a dopadají na stínítko obrazovky. </a:t>
            </a:r>
          </a:p>
          <a:p>
            <a:r>
              <a:rPr lang="cs-CZ" altLang="cs-CZ" sz="2800" dirty="0"/>
              <a:t>Stínítko je tvořeno vrstvou tzv. </a:t>
            </a:r>
            <a:r>
              <a:rPr lang="cs-CZ" altLang="cs-CZ" sz="2800" dirty="0">
                <a:solidFill>
                  <a:srgbClr val="0066FF"/>
                </a:solidFill>
              </a:rPr>
              <a:t>luminoforů</a:t>
            </a:r>
          </a:p>
          <a:p>
            <a:r>
              <a:rPr lang="cs-CZ" altLang="cs-CZ" dirty="0"/>
              <a:t>Každý svazek dopadá na luminofor s příslušnou barvou (RGB)</a:t>
            </a:r>
            <a:endParaRPr lang="cs-CZ" altLang="cs-CZ" sz="2800" dirty="0"/>
          </a:p>
        </p:txBody>
      </p:sp>
      <p:pic>
        <p:nvPicPr>
          <p:cNvPr id="5122" name="Picture 2" descr="Stock fotografie Starý Počítačový Monitor Crt Izolovaný Na Bílé – stáhnout  obrázek nyní - Počítačové monitory, Stáří - Stav, 1990-1999 - iStock">
            <a:extLst>
              <a:ext uri="{FF2B5EF4-FFF2-40B4-BE49-F238E27FC236}">
                <a16:creationId xmlns:a16="http://schemas.microsoft.com/office/drawing/2014/main" id="{ACF0F574-956D-3511-973F-0E0ACA4DD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532" y="361950"/>
            <a:ext cx="2343268" cy="203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3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9B08DE-AB0E-1EDA-49CB-E49E775D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CRT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169E9C-94CB-8D59-3F99-C202B8FB7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D530D63-C67F-0C4C-2BB0-5CEBCB8AE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28238" y="1834638"/>
            <a:ext cx="6335523" cy="4342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2" descr="Stock fotografie Starý Počítačový Monitor Crt Izolovaný Na Bílé – stáhnout  obrázek nyní - Počítačové monitory, Stáří - Stav, 1990-1999 - iStock">
            <a:extLst>
              <a:ext uri="{FF2B5EF4-FFF2-40B4-BE49-F238E27FC236}">
                <a16:creationId xmlns:a16="http://schemas.microsoft.com/office/drawing/2014/main" id="{9BB528C0-DE5F-A767-5690-BE7BD02F9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532" y="361950"/>
            <a:ext cx="2343268" cy="203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64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E91EAF-6167-AEC3-9D84-8CE4315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LCD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4CF55B-F246-5EB1-F0B7-12E1B879D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Monitory využívající tekutých krystalů</a:t>
            </a:r>
          </a:p>
          <a:p>
            <a:r>
              <a:rPr lang="cs-CZ" altLang="cs-CZ" dirty="0"/>
              <a:t>Tekuté krystaly jsou materiály, které vlivem elektrického pole mění svoji molekulární strukturu</a:t>
            </a:r>
          </a:p>
          <a:p>
            <a:r>
              <a:rPr lang="cs-CZ" altLang="cs-CZ" dirty="0"/>
              <a:t>Díky tomu lze ovlivnit množství procházejícího světla krystalem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14522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2C4AFE-8914-93BC-02DD-7F28A9F6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LCD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209818-B731-D24A-7200-4CEFD131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6" name="Picture 2" descr="What Is LCD? | Construction &amp; Working | Basics">
            <a:extLst>
              <a:ext uri="{FF2B5EF4-FFF2-40B4-BE49-F238E27FC236}">
                <a16:creationId xmlns:a16="http://schemas.microsoft.com/office/drawing/2014/main" id="{95C118DA-8F9A-6A8D-A155-56F4AEAAA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191" y="1825625"/>
            <a:ext cx="5433618" cy="434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229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AF9141-8D36-B8FB-2C2D-69BCB011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7CF416-70A4-8C2A-B83F-BF919B831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>
                <a:hlinkClick r:id="rId2"/>
              </a:rPr>
              <a:t>https://www.youtube.com/watch?v=E9qpbt0v5Hw&amp;ab_channel=uclaphysicsvideo</a:t>
            </a:r>
            <a:r>
              <a:rPr lang="cs-CZ" dirty="0"/>
              <a:t>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31AA0E4-03F4-0606-97B6-D6F38868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65" y="1915049"/>
            <a:ext cx="4805878" cy="249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3D72B9-869F-ADD2-F972-BD474A64C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4849536" cy="25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971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85AB5A-64D8-4D2A-FA1C-6C9C5E22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Technologie LCD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90D890-1C0D-071D-F675-B1F7446A7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TFT (</a:t>
            </a:r>
            <a:r>
              <a:rPr lang="cs-CZ" dirty="0" err="1"/>
              <a:t>Thin</a:t>
            </a:r>
            <a:r>
              <a:rPr lang="cs-CZ" dirty="0"/>
              <a:t> Film Tranzistor)</a:t>
            </a:r>
          </a:p>
          <a:p>
            <a:pPr lvl="1"/>
            <a:r>
              <a:rPr lang="cs-CZ" altLang="cs-CZ" sz="2800" dirty="0"/>
              <a:t>Každý obrazový bod - pixel - je aktivně ovládán třemi tenkovrstvými tranzistory </a:t>
            </a:r>
            <a:r>
              <a:rPr lang="cs-CZ" altLang="cs-CZ" sz="2800" b="1" dirty="0"/>
              <a:t>TFT</a:t>
            </a:r>
            <a:endParaRPr lang="cs-CZ" altLang="cs-CZ" sz="2800" i="1" dirty="0">
              <a:solidFill>
                <a:schemeClr val="bg2"/>
              </a:solidFill>
            </a:endParaRPr>
          </a:p>
          <a:p>
            <a:pPr lvl="1"/>
            <a:r>
              <a:rPr lang="cs-CZ" altLang="cs-CZ" sz="2800" dirty="0">
                <a:solidFill>
                  <a:srgbClr val="4D4D4D"/>
                </a:solidFill>
              </a:rPr>
              <a:t>Aby vznikl obraz, je potřeba: </a:t>
            </a:r>
            <a:r>
              <a:rPr lang="cs-CZ" altLang="cs-CZ" sz="2800" dirty="0">
                <a:solidFill>
                  <a:srgbClr val="0066FF"/>
                </a:solidFill>
              </a:rPr>
              <a:t>světlo a barva</a:t>
            </a:r>
            <a:r>
              <a:rPr lang="cs-CZ" altLang="cs-CZ" sz="2800" dirty="0"/>
              <a:t> </a:t>
            </a:r>
          </a:p>
          <a:p>
            <a:pPr lvl="1"/>
            <a:r>
              <a:rPr lang="cs-CZ" altLang="cs-CZ" sz="2800" dirty="0">
                <a:solidFill>
                  <a:srgbClr val="0066FF"/>
                </a:solidFill>
              </a:rPr>
              <a:t>Světlo</a:t>
            </a:r>
            <a:r>
              <a:rPr lang="cs-CZ" altLang="cs-CZ" sz="2800" dirty="0"/>
              <a:t> je zajišťováno </a:t>
            </a:r>
            <a:r>
              <a:rPr lang="cs-CZ" altLang="cs-CZ" sz="2800" dirty="0" err="1"/>
              <a:t>podsvětlujícími</a:t>
            </a:r>
            <a:r>
              <a:rPr lang="cs-CZ" altLang="cs-CZ" sz="2800" dirty="0"/>
              <a:t> lampami CCFL, které jsou intenzívním zdrojem bílého světla (dnes se již místo CCFL používají LED)</a:t>
            </a:r>
          </a:p>
          <a:p>
            <a:pPr lvl="1"/>
            <a:r>
              <a:rPr lang="cs-CZ" altLang="cs-CZ" sz="2800" dirty="0"/>
              <a:t>Výsledný obraz se získá propouštěním bílého světla skrz </a:t>
            </a:r>
            <a:r>
              <a:rPr lang="cs-CZ" altLang="cs-CZ" sz="2800" dirty="0">
                <a:solidFill>
                  <a:srgbClr val="0066FF"/>
                </a:solidFill>
              </a:rPr>
              <a:t>barevné filtry</a:t>
            </a:r>
            <a:r>
              <a:rPr lang="cs-CZ" altLang="cs-CZ" sz="2800" dirty="0"/>
              <a:t> </a:t>
            </a:r>
          </a:p>
          <a:p>
            <a:pPr lvl="1"/>
            <a:r>
              <a:rPr lang="cs-CZ" altLang="cs-CZ" sz="2800" dirty="0">
                <a:solidFill>
                  <a:srgbClr val="4D4D4D"/>
                </a:solidFill>
              </a:rPr>
              <a:t>Množství propouštěného světla je řízeno elektrickým polem pomocí tekutých krystalů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72459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595C35-A880-1A99-148A-F9161B90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TFT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C0205E-6663-61E9-DF72-CFEB48A9C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4251A6-2A80-F6FF-7D95-B555596B2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476" y="2017355"/>
            <a:ext cx="3599048" cy="359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733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9B1C94-AB2B-F2EB-33E1-AD27F4A2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LCD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748809-6CE1-5019-20FA-97F85F00B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TN (</a:t>
            </a:r>
            <a:r>
              <a:rPr lang="cs-CZ" dirty="0" err="1"/>
              <a:t>Twisted</a:t>
            </a:r>
            <a:r>
              <a:rPr lang="cs-CZ" dirty="0"/>
              <a:t> </a:t>
            </a:r>
            <a:r>
              <a:rPr lang="cs-CZ" dirty="0" err="1"/>
              <a:t>Nematic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Orientace tekutých krystalů je rovnoběžná s plochou polarizačních filtrů při propuštění a kolmá při blokování</a:t>
            </a:r>
          </a:p>
          <a:p>
            <a:pPr lvl="1"/>
            <a:r>
              <a:rPr lang="cs-CZ" dirty="0"/>
              <a:t>Jedná se o nejlevnější typ LCD monitorů</a:t>
            </a:r>
          </a:p>
          <a:p>
            <a:pPr lvl="1"/>
            <a:r>
              <a:rPr lang="cs-CZ" dirty="0"/>
              <a:t>Mají nejrychlejší odezvu</a:t>
            </a:r>
          </a:p>
          <a:p>
            <a:pPr lvl="1"/>
            <a:r>
              <a:rPr lang="cs-CZ" dirty="0"/>
              <a:t>Nevýhodou jsou špatné pozorovací úhly a také menší počet reprodukovatelných barev (pouze 6 bitů na kanál)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493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1136C-4FDD-57F6-67C8-36E7A3E4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TN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674E60-20D9-E1D2-6C4A-8BE7C5C74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AD8EEBF-E1BF-179C-C884-A9861A9F86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" t="51621" r="5011" b="2140"/>
          <a:stretch/>
        </p:blipFill>
        <p:spPr bwMode="auto">
          <a:xfrm>
            <a:off x="2346120" y="2332139"/>
            <a:ext cx="7499759" cy="317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388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70DA92-F57B-E95E-695E-B15DFE9B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LCD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518524-1F36-EFBB-ED0E-49BCBBE42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IPS (In-Plane </a:t>
            </a:r>
            <a:r>
              <a:rPr lang="cs-CZ" dirty="0" err="1"/>
              <a:t>Switching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Orientace tekutých krystalů je rovnoběžná s plochou monitoru při propuštění i blokování světla</a:t>
            </a:r>
          </a:p>
          <a:p>
            <a:pPr lvl="1"/>
            <a:r>
              <a:rPr lang="cs-CZ" dirty="0"/>
              <a:t>Díky tomu mají IPS monitory lepší pozorovací úhly</a:t>
            </a:r>
          </a:p>
          <a:p>
            <a:pPr lvl="1"/>
            <a:r>
              <a:rPr lang="cs-CZ" dirty="0"/>
              <a:t>Lepší reprodukce barev (8 bitů oproti 6 bitům u TN monitorů)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7133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F0A8BD-D30F-3862-B0DC-A16F50B3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 IPS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AD22B4-6C5D-B7C1-E106-11AF777C9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29E40B-0F47-E0DF-2068-327C91D2C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691" r="4196" b="51193"/>
          <a:stretch/>
        </p:blipFill>
        <p:spPr bwMode="auto">
          <a:xfrm>
            <a:off x="2308370" y="2419969"/>
            <a:ext cx="7575259" cy="316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19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347C27-1498-304E-03DA-FC6A625F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LED vs</a:t>
            </a:r>
            <a:r>
              <a:rPr lang="cs-CZ" dirty="0"/>
              <a:t> CCFL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E922D1-44BA-6E50-421A-582165F40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6" name="Picture 2" descr="How to Know the Differences Between an LED Display and LCD Monitor &lt; Tech  Takes - HP.com Singapore">
            <a:extLst>
              <a:ext uri="{FF2B5EF4-FFF2-40B4-BE49-F238E27FC236}">
                <a16:creationId xmlns:a16="http://schemas.microsoft.com/office/drawing/2014/main" id="{E7C7BF02-C41C-9ED4-8292-063E77DF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957" y="1825625"/>
            <a:ext cx="8736085" cy="436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72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F1614-C2BC-9EA7-8E25-C0F5FA43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QLED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56E2A1-7029-B9A9-D203-25A556BCA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124" name="Picture 4" descr="What is Quantum Dot Technology? - ViewSonic Library">
            <a:extLst>
              <a:ext uri="{FF2B5EF4-FFF2-40B4-BE49-F238E27FC236}">
                <a16:creationId xmlns:a16="http://schemas.microsoft.com/office/drawing/2014/main" id="{50F6EF7E-3806-A901-23A6-B21027480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1825625"/>
            <a:ext cx="6819900" cy="45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786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F100A9-24FD-9EBC-41BC-A5E06F07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OLED monitory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6BAB37-F3E9-87C7-6501-1325E28D5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Hlavním aktivním prvkem jsou světelné diody, takzvané LED</a:t>
            </a:r>
          </a:p>
          <a:p>
            <a:r>
              <a:rPr lang="cs-CZ" dirty="0"/>
              <a:t>LED obrazovka je postavena na principu aditivního sčítání barev - každý jednotlivý bod obrazovky tvoří trojice LED - červená, zelená a modrá – stejně jako u LCD a CRT</a:t>
            </a:r>
          </a:p>
          <a:p>
            <a:r>
              <a:rPr lang="cs-CZ" dirty="0"/>
              <a:t>Oproti LCD nemají OLED obrazovky podsvícení, každá organická dioda generuje vlastní světlo</a:t>
            </a:r>
          </a:p>
        </p:txBody>
      </p:sp>
    </p:spTree>
    <p:extLst>
      <p:ext uri="{BB962C8B-B14F-4D97-AF65-F5344CB8AC3E}">
        <p14:creationId xmlns:p14="http://schemas.microsoft.com/office/powerpoint/2010/main" val="2614399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87CC80-3B20-A81F-13F2-BF284973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OLED monitory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FED382-F0A9-0450-9462-C3C218A4D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146" name="Picture 2" descr="279,501 Lcd 图片、库存照片和矢量图| Shutterstock">
            <a:extLst>
              <a:ext uri="{FF2B5EF4-FFF2-40B4-BE49-F238E27FC236}">
                <a16:creationId xmlns:a16="http://schemas.microsoft.com/office/drawing/2014/main" id="{9A97D7C6-CFFB-02BE-7FE0-8E5E917422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9"/>
          <a:stretch/>
        </p:blipFill>
        <p:spPr bwMode="auto">
          <a:xfrm>
            <a:off x="3223994" y="1829353"/>
            <a:ext cx="5744013" cy="434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761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051F7-232C-E016-3FE0-5725607A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OLED </a:t>
            </a:r>
            <a:r>
              <a:rPr lang="cs-CZ" sz="2800" dirty="0"/>
              <a:t>(</a:t>
            </a:r>
            <a:r>
              <a:rPr lang="cs-CZ" sz="2800" dirty="0" err="1"/>
              <a:t>Organic</a:t>
            </a:r>
            <a:r>
              <a:rPr lang="cs-CZ" sz="2800" dirty="0"/>
              <a:t> </a:t>
            </a:r>
            <a:r>
              <a:rPr lang="cs-CZ" sz="2800" dirty="0" err="1"/>
              <a:t>Light</a:t>
            </a:r>
            <a:r>
              <a:rPr lang="cs-CZ" sz="2800" dirty="0"/>
              <a:t> </a:t>
            </a:r>
            <a:r>
              <a:rPr lang="cs-CZ" sz="2800" dirty="0" err="1"/>
              <a:t>Emitting</a:t>
            </a:r>
            <a:r>
              <a:rPr lang="cs-CZ" sz="2800" dirty="0"/>
              <a:t> </a:t>
            </a:r>
            <a:r>
              <a:rPr lang="cs-CZ" sz="2800" dirty="0" err="1"/>
              <a:t>Diode</a:t>
            </a:r>
            <a:r>
              <a:rPr lang="cs-CZ" sz="2800" dirty="0"/>
              <a:t>)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E7DFB3-C76A-5CD1-4825-719FA785B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LED, kde je světlo produkováno organickým materiálem (nejčastěji polymery například </a:t>
            </a:r>
            <a:r>
              <a:rPr lang="cs-CZ" dirty="0" err="1"/>
              <a:t>polyfluoren</a:t>
            </a:r>
            <a:r>
              <a:rPr lang="cs-CZ" dirty="0"/>
              <a:t>)</a:t>
            </a:r>
          </a:p>
          <a:p>
            <a:r>
              <a:rPr lang="cs-CZ" dirty="0"/>
              <a:t>Princip OLED</a:t>
            </a:r>
          </a:p>
          <a:p>
            <a:endParaRPr lang="cs-CZ" dirty="0"/>
          </a:p>
        </p:txBody>
      </p:sp>
      <p:pic>
        <p:nvPicPr>
          <p:cNvPr id="7170" name="Picture 2" descr="A simple animation showing how an OLED organic light emitting diode emits light.">
            <a:extLst>
              <a:ext uri="{FF2B5EF4-FFF2-40B4-BE49-F238E27FC236}">
                <a16:creationId xmlns:a16="http://schemas.microsoft.com/office/drawing/2014/main" id="{FED41594-EE1F-A779-2114-5C7BC8385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319463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421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03ACF5-BFF5-D5F6-F990-876CC2A61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Výhody OLED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9202FC-CC91-D3FC-231B-961CDD28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Oproti LCD jsou OLED panely podstatně tenčí</a:t>
            </a:r>
          </a:p>
          <a:p>
            <a:r>
              <a:rPr lang="cs-CZ" dirty="0"/>
              <a:t>Mají vyšší jas a nepotřebují žádné podsvícení =&gt; nižší spotřeba, skutečná černá barva</a:t>
            </a:r>
          </a:p>
          <a:p>
            <a:r>
              <a:rPr lang="cs-CZ" dirty="0"/>
              <a:t>Nevýhodou je rychlejší degradace</a:t>
            </a:r>
          </a:p>
        </p:txBody>
      </p:sp>
    </p:spTree>
    <p:extLst>
      <p:ext uri="{BB962C8B-B14F-4D97-AF65-F5344CB8AC3E}">
        <p14:creationId xmlns:p14="http://schemas.microsoft.com/office/powerpoint/2010/main" val="1359865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BD664D-8C0E-15B7-7874-BB24C266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Srovnání technologií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3FBF2B-7A9E-BEE8-A187-8B947B8A7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8194" name="Picture 2" descr="Contrast: LED vs QLED vs OLED">
            <a:extLst>
              <a:ext uri="{FF2B5EF4-FFF2-40B4-BE49-F238E27FC236}">
                <a16:creationId xmlns:a16="http://schemas.microsoft.com/office/drawing/2014/main" id="{A4E2A9BB-428F-C562-288A-26E19A7CA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929" y="1938189"/>
            <a:ext cx="7210141" cy="423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98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B24415-5F91-158A-44D5-A51D5F4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Připojení monitorů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03F18C-658A-D8BA-1C13-4EFCA25AA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Existují celkem 4 používané konektory k připojení monitoru k počítači (D-SUB/VGA, DVI, HDMI, DP)</a:t>
            </a:r>
          </a:p>
          <a:p>
            <a:r>
              <a:rPr lang="cs-CZ" dirty="0"/>
              <a:t>V dnešní době jsou konektory D-SUB a DVI postupně nahrazovány HDMI a DP</a:t>
            </a: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71307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491E17-DF88-79A8-DD72-7CBD5341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D-SUB/VGA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E658BD-BE6F-68C0-318B-BB7B3D310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analogový konektor</a:t>
            </a:r>
          </a:p>
          <a:p>
            <a:r>
              <a:rPr lang="cs-CZ" dirty="0"/>
              <a:t>Slouží primárně k připojování CRT monitorů</a:t>
            </a:r>
          </a:p>
          <a:p>
            <a:r>
              <a:rPr lang="cs-CZ" dirty="0"/>
              <a:t>Lze použít i k připojení LCD monitorů, ale je nutná konverze analogového signálu na digitální</a:t>
            </a:r>
          </a:p>
          <a:p>
            <a:r>
              <a:rPr lang="cs-CZ" dirty="0"/>
              <a:t>Postupně nahrazen DVI</a:t>
            </a:r>
          </a:p>
          <a:p>
            <a:r>
              <a:rPr lang="cs-CZ" dirty="0"/>
              <a:t>Dnes používán jen v nejlevnějších zařízeních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02F5A14-F722-413F-BB49-3B6FEE086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96" y="4851400"/>
            <a:ext cx="3812008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420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28BF22-F3DC-3B2D-1824-2E4864D1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DVI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77DB3D-FFDE-2FF4-4CA1-25AA3F1B4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Existují dvě používané varianty DVI (DVI-D, DVI-I)</a:t>
            </a:r>
          </a:p>
          <a:p>
            <a:r>
              <a:rPr lang="cs-CZ" dirty="0"/>
              <a:t>DVI-D slouží k přenosu čistě digitálního signálu</a:t>
            </a:r>
          </a:p>
          <a:p>
            <a:r>
              <a:rPr lang="cs-CZ" dirty="0"/>
              <a:t>DVI-I je možné použít i k přenosu analogového signálu</a:t>
            </a:r>
          </a:p>
          <a:p>
            <a:r>
              <a:rPr lang="cs-CZ" dirty="0"/>
              <a:t>Tyto varianty se dále dělí na Single a </a:t>
            </a:r>
            <a:r>
              <a:rPr lang="cs-CZ" dirty="0" err="1"/>
              <a:t>Dual</a:t>
            </a:r>
            <a:r>
              <a:rPr lang="cs-CZ" dirty="0"/>
              <a:t> Link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54AB95-1C6C-14D4-6E22-E25FF7756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952195"/>
            <a:ext cx="113347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294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CD4694-2A12-5E0D-EF6F-3C699F7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DVI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DBB864-3A27-5383-3C80-E01F67D8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Single Link stačí při použití Full HD monitorů s maximální obnovovací frekvencí 60 Hz (při 2K rozlišení je maximální obnovovací frekvence 30 Hz)</a:t>
            </a:r>
          </a:p>
          <a:p>
            <a:r>
              <a:rPr lang="cs-CZ" dirty="0"/>
              <a:t>Pro připojení monitorů s vyššími hodnotami rozlišení či obnovovací frekvence je možné použít </a:t>
            </a:r>
            <a:r>
              <a:rPr lang="cs-CZ" dirty="0" err="1"/>
              <a:t>Dual</a:t>
            </a:r>
            <a:r>
              <a:rPr lang="cs-CZ" dirty="0"/>
              <a:t> Link, kde je šířka datového pásma navýšena na dvojnásobek</a:t>
            </a:r>
          </a:p>
          <a:p>
            <a:r>
              <a:rPr lang="cs-CZ" dirty="0"/>
              <a:t>U nových počítačů již DVI nenajdete a je nahrazeno HDMI a DP</a:t>
            </a:r>
          </a:p>
        </p:txBody>
      </p:sp>
    </p:spTree>
    <p:extLst>
      <p:ext uri="{BB962C8B-B14F-4D97-AF65-F5344CB8AC3E}">
        <p14:creationId xmlns:p14="http://schemas.microsoft.com/office/powerpoint/2010/main" val="1144268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19EAE0-9510-B9C0-0BF9-47E1C595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HDMI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F1074E-3BE3-8C77-C7A8-04CF338D5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Zkratka </a:t>
            </a:r>
            <a:r>
              <a:rPr lang="cs-CZ" altLang="cs-CZ" sz="2800" b="1" dirty="0" err="1">
                <a:solidFill>
                  <a:srgbClr val="000000"/>
                </a:solidFill>
              </a:rPr>
              <a:t>High-Definition</a:t>
            </a:r>
            <a:r>
              <a:rPr lang="cs-CZ" altLang="cs-CZ" sz="2800" b="1" dirty="0">
                <a:solidFill>
                  <a:srgbClr val="000000"/>
                </a:solidFill>
              </a:rPr>
              <a:t> Multimedia Interface</a:t>
            </a:r>
            <a:endParaRPr lang="cs-CZ" altLang="cs-CZ" b="1" dirty="0">
              <a:solidFill>
                <a:srgbClr val="000000"/>
              </a:solidFill>
            </a:endParaRPr>
          </a:p>
          <a:p>
            <a:r>
              <a:rPr lang="cs-CZ" altLang="cs-CZ" sz="2800" dirty="0"/>
              <a:t>Jedná se rozhraní pro přenos nekomprimovaného obrazového a zvukového signálu v digitálním formátu</a:t>
            </a:r>
          </a:p>
          <a:p>
            <a:r>
              <a:rPr lang="cs-CZ" altLang="cs-CZ" dirty="0"/>
              <a:t>Dnes nejpoužívanější konektor pro grafický výstup z počítače</a:t>
            </a:r>
            <a:endParaRPr lang="cs-CZ" altLang="cs-CZ" sz="2800" dirty="0"/>
          </a:p>
          <a:p>
            <a:pPr marL="0" indent="0">
              <a:buNone/>
            </a:pPr>
            <a:endParaRPr lang="cs-CZ" altLang="cs-CZ" sz="2800" dirty="0">
              <a:solidFill>
                <a:srgbClr val="000000"/>
              </a:solidFill>
            </a:endParaRPr>
          </a:p>
        </p:txBody>
      </p:sp>
      <p:pic>
        <p:nvPicPr>
          <p:cNvPr id="5" name="Obrázek 4" descr="Obsah obrázku text, kabel, konektor, adaptér&#10;&#10;Popis byl vytvořen automaticky">
            <a:extLst>
              <a:ext uri="{FF2B5EF4-FFF2-40B4-BE49-F238E27FC236}">
                <a16:creationId xmlns:a16="http://schemas.microsoft.com/office/drawing/2014/main" id="{3538FFD4-4AAA-86B1-D843-E8CEF010E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050" y="3696377"/>
            <a:ext cx="5623900" cy="279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86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827F57-1256-59DA-2E8E-C024C9B4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DP (Display Port)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1CECB5-9E76-838F-3B46-35D7926D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Rozhraní primárně sloužící k připojení monitorů</a:t>
            </a:r>
          </a:p>
          <a:p>
            <a:r>
              <a:rPr lang="cs-CZ" dirty="0"/>
              <a:t>Přenáší nekomprimovaný digitální obsah s podporou až 8 kanálového zvuku</a:t>
            </a:r>
          </a:p>
          <a:p>
            <a:r>
              <a:rPr lang="cs-CZ" dirty="0"/>
              <a:t>Kompatibilita s HDMI je omezená</a:t>
            </a:r>
          </a:p>
          <a:p>
            <a:r>
              <a:rPr lang="cs-CZ" dirty="0"/>
              <a:t>V případě, že zařízení disponuje funkcí </a:t>
            </a:r>
            <a:r>
              <a:rPr lang="cs-CZ" dirty="0" err="1"/>
              <a:t>dual</a:t>
            </a:r>
            <a:r>
              <a:rPr lang="cs-CZ" dirty="0"/>
              <a:t>-mode, je možné použít pasivní redukci, jinak je nutné použít redukci aktivní</a:t>
            </a:r>
          </a:p>
          <a:p>
            <a:r>
              <a:rPr lang="cs-CZ" dirty="0" err="1"/>
              <a:t>Dual</a:t>
            </a:r>
            <a:r>
              <a:rPr lang="cs-CZ" dirty="0"/>
              <a:t>-mode konektory jsou označeny DP++ (jelikož je tato funkce v naprosté většině zařízení ++ se často vynechává)</a:t>
            </a:r>
          </a:p>
        </p:txBody>
      </p:sp>
    </p:spTree>
    <p:extLst>
      <p:ext uri="{BB962C8B-B14F-4D97-AF65-F5344CB8AC3E}">
        <p14:creationId xmlns:p14="http://schemas.microsoft.com/office/powerpoint/2010/main" val="3763599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2EFFD2-512C-B6CE-9B24-EBB541F6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 </a:t>
            </a:r>
            <a:r>
              <a:rPr lang="cs-CZ" dirty="0" err="1"/>
              <a:t>Ink</a:t>
            </a:r>
            <a:endParaRPr lang="cs-CZ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9985F14-06C7-5FEA-BF0A-DBA8FA735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50" y="3429000"/>
            <a:ext cx="3752850" cy="238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Skupina 5">
            <a:extLst>
              <a:ext uri="{FF2B5EF4-FFF2-40B4-BE49-F238E27FC236}">
                <a16:creationId xmlns:a16="http://schemas.microsoft.com/office/drawing/2014/main" id="{D032ED6F-9ECE-B87D-FE5A-5B5900F72115}"/>
              </a:ext>
            </a:extLst>
          </p:cNvPr>
          <p:cNvGrpSpPr/>
          <p:nvPr/>
        </p:nvGrpSpPr>
        <p:grpSpPr>
          <a:xfrm>
            <a:off x="8565502" y="111690"/>
            <a:ext cx="3357463" cy="2480508"/>
            <a:chOff x="8565502" y="111690"/>
            <a:chExt cx="3357463" cy="2480508"/>
          </a:xfrm>
        </p:grpSpPr>
        <p:pic>
          <p:nvPicPr>
            <p:cNvPr id="4" name="Picture 2" descr="Čtečka e-knih Pocket Book 970 InkPad Lite - Dark Gray | EURONICS">
              <a:extLst>
                <a:ext uri="{FF2B5EF4-FFF2-40B4-BE49-F238E27FC236}">
                  <a16:creationId xmlns:a16="http://schemas.microsoft.com/office/drawing/2014/main" id="{83079EB3-CD91-951C-1F2B-1265F96D0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4587" y="111690"/>
              <a:ext cx="2508378" cy="2480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Obdélník 4">
              <a:extLst>
                <a:ext uri="{FF2B5EF4-FFF2-40B4-BE49-F238E27FC236}">
                  <a16:creationId xmlns:a16="http://schemas.microsoft.com/office/drawing/2014/main" id="{CA012041-AAB2-80DE-BC03-D3AAEDD55372}"/>
                </a:ext>
              </a:extLst>
            </p:cNvPr>
            <p:cNvSpPr/>
            <p:nvPr/>
          </p:nvSpPr>
          <p:spPr>
            <a:xfrm>
              <a:off x="8565502" y="308428"/>
              <a:ext cx="989045" cy="11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8CAC44-2DE4-95C7-3460-B3BD06399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Naprosto odlišná technologie oproti předchozím </a:t>
            </a:r>
          </a:p>
          <a:p>
            <a:r>
              <a:rPr lang="cs-CZ" dirty="0"/>
              <a:t>E </a:t>
            </a:r>
            <a:r>
              <a:rPr lang="cs-CZ" dirty="0" err="1"/>
              <a:t>Ink</a:t>
            </a:r>
            <a:r>
              <a:rPr lang="cs-CZ" dirty="0"/>
              <a:t> displej negeneruje světlo, pouze jej odráží </a:t>
            </a:r>
          </a:p>
        </p:txBody>
      </p:sp>
    </p:spTree>
    <p:extLst>
      <p:ext uri="{BB962C8B-B14F-4D97-AF65-F5344CB8AC3E}">
        <p14:creationId xmlns:p14="http://schemas.microsoft.com/office/powerpoint/2010/main" val="2436368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262A7F-5766-C33A-AADD-C84F7341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 </a:t>
            </a:r>
            <a:r>
              <a:rPr lang="cs-CZ" dirty="0" err="1"/>
              <a:t>Ink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3E5D88-5C4F-37FC-D07A-D380B239B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Přechod pixelů z jednoho stavu do druhého</a:t>
            </a:r>
          </a:p>
          <a:p>
            <a:endParaRPr lang="cs-CZ" dirty="0"/>
          </a:p>
          <a:p>
            <a:r>
              <a:rPr lang="cs-CZ" dirty="0">
                <a:hlinkClick r:id="rId2"/>
              </a:rPr>
              <a:t>https://en.wikipedia.org/wiki/File:E_Ink_Screen_updating.webm</a:t>
            </a:r>
            <a:r>
              <a:rPr lang="cs-CZ" dirty="0"/>
              <a:t> </a:t>
            </a: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F516E121-9865-5715-C16F-5869F98AA160}"/>
              </a:ext>
            </a:extLst>
          </p:cNvPr>
          <p:cNvGrpSpPr/>
          <p:nvPr/>
        </p:nvGrpSpPr>
        <p:grpSpPr>
          <a:xfrm>
            <a:off x="8565502" y="111690"/>
            <a:ext cx="3357463" cy="2480508"/>
            <a:chOff x="8565502" y="111690"/>
            <a:chExt cx="3357463" cy="2480508"/>
          </a:xfrm>
        </p:grpSpPr>
        <p:pic>
          <p:nvPicPr>
            <p:cNvPr id="5" name="Picture 2" descr="Čtečka e-knih Pocket Book 970 InkPad Lite - Dark Gray | EURONICS">
              <a:extLst>
                <a:ext uri="{FF2B5EF4-FFF2-40B4-BE49-F238E27FC236}">
                  <a16:creationId xmlns:a16="http://schemas.microsoft.com/office/drawing/2014/main" id="{2AFE0070-6514-D8D9-0EC8-692CB89119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4587" y="111690"/>
              <a:ext cx="2508378" cy="2480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bdélník 5">
              <a:extLst>
                <a:ext uri="{FF2B5EF4-FFF2-40B4-BE49-F238E27FC236}">
                  <a16:creationId xmlns:a16="http://schemas.microsoft.com/office/drawing/2014/main" id="{16FCF307-844F-D312-CAFF-F600FA6B50E2}"/>
                </a:ext>
              </a:extLst>
            </p:cNvPr>
            <p:cNvSpPr/>
            <p:nvPr/>
          </p:nvSpPr>
          <p:spPr>
            <a:xfrm>
              <a:off x="8565502" y="308428"/>
              <a:ext cx="989045" cy="11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7766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EA51E4-59A5-6EAB-30E1-7416F449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 </a:t>
            </a:r>
            <a:r>
              <a:rPr lang="cs-CZ" dirty="0" err="1"/>
              <a:t>Ink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E2E7F1-11F2-DAAE-5F5F-0D5462532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Výhody:</a:t>
            </a:r>
          </a:p>
          <a:p>
            <a:pPr lvl="1"/>
            <a:r>
              <a:rPr lang="cs-CZ" dirty="0"/>
              <a:t>nízká spotřeba energie</a:t>
            </a:r>
          </a:p>
          <a:p>
            <a:pPr lvl="1"/>
            <a:r>
              <a:rPr lang="cs-CZ" dirty="0"/>
              <a:t>Čitelné i za světla</a:t>
            </a:r>
          </a:p>
          <a:p>
            <a:r>
              <a:rPr lang="cs-CZ" dirty="0"/>
              <a:t>Nevýhody:</a:t>
            </a:r>
          </a:p>
          <a:p>
            <a:pPr lvl="1"/>
            <a:r>
              <a:rPr lang="cs-CZ" dirty="0"/>
              <a:t>Nečitelné bez světla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9D779F6A-DF11-F829-3A1D-B8515841FEC8}"/>
              </a:ext>
            </a:extLst>
          </p:cNvPr>
          <p:cNvGrpSpPr/>
          <p:nvPr/>
        </p:nvGrpSpPr>
        <p:grpSpPr>
          <a:xfrm>
            <a:off x="8565502" y="111690"/>
            <a:ext cx="3357463" cy="2480508"/>
            <a:chOff x="8565502" y="111690"/>
            <a:chExt cx="3357463" cy="2480508"/>
          </a:xfrm>
        </p:grpSpPr>
        <p:pic>
          <p:nvPicPr>
            <p:cNvPr id="6" name="Picture 2" descr="Čtečka e-knih Pocket Book 970 InkPad Lite - Dark Gray | EURONICS">
              <a:extLst>
                <a:ext uri="{FF2B5EF4-FFF2-40B4-BE49-F238E27FC236}">
                  <a16:creationId xmlns:a16="http://schemas.microsoft.com/office/drawing/2014/main" id="{4E05558F-61FC-5CE1-2159-55C083660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4587" y="111690"/>
              <a:ext cx="2508378" cy="2480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bdélník 6">
              <a:extLst>
                <a:ext uri="{FF2B5EF4-FFF2-40B4-BE49-F238E27FC236}">
                  <a16:creationId xmlns:a16="http://schemas.microsoft.com/office/drawing/2014/main" id="{666F42D9-5BDE-CC8F-A913-AA814B7FEBAE}"/>
                </a:ext>
              </a:extLst>
            </p:cNvPr>
            <p:cNvSpPr/>
            <p:nvPr/>
          </p:nvSpPr>
          <p:spPr>
            <a:xfrm>
              <a:off x="8565502" y="308428"/>
              <a:ext cx="989045" cy="11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7919920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DFDD2BF6E96024C9EB0404A74ADE37A" ma:contentTypeVersion="3" ma:contentTypeDescription="Vytvoří nový dokument" ma:contentTypeScope="" ma:versionID="c1cd0e55a1d0056ab4ba9a26e9967202">
  <xsd:schema xmlns:xsd="http://www.w3.org/2001/XMLSchema" xmlns:xs="http://www.w3.org/2001/XMLSchema" xmlns:p="http://schemas.microsoft.com/office/2006/metadata/properties" xmlns:ns2="5b9484fe-5030-41f1-bce6-7bdc03b193bd" targetNamespace="http://schemas.microsoft.com/office/2006/metadata/properties" ma:root="true" ma:fieldsID="a735ef91676693e58509b052b1233f76" ns2:_="">
    <xsd:import namespace="5b9484fe-5030-41f1-bce6-7bdc03b193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9484fe-5030-41f1-bce6-7bdc03b193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874901-0F94-4B6A-BE0C-EAEDADB87C32}"/>
</file>

<file path=customXml/itemProps2.xml><?xml version="1.0" encoding="utf-8"?>
<ds:datastoreItem xmlns:ds="http://schemas.openxmlformats.org/officeDocument/2006/customXml" ds:itemID="{18D792ED-C47C-4952-A742-87BE6FCB43C2}"/>
</file>

<file path=customXml/itemProps3.xml><?xml version="1.0" encoding="utf-8"?>
<ds:datastoreItem xmlns:ds="http://schemas.openxmlformats.org/officeDocument/2006/customXml" ds:itemID="{6AB71104-7336-4D68-A5CE-366373F8D8F9}"/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934</Words>
  <Application>Microsoft Office PowerPoint</Application>
  <PresentationFormat>Širokoúhlá obrazovka</PresentationFormat>
  <Paragraphs>138</Paragraphs>
  <Slides>37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37</vt:i4>
      </vt:variant>
    </vt:vector>
  </HeadingPairs>
  <TitlesOfParts>
    <vt:vector size="41" baseType="lpstr">
      <vt:lpstr>Arial</vt:lpstr>
      <vt:lpstr>Calibri</vt:lpstr>
      <vt:lpstr>Jokerman</vt:lpstr>
      <vt:lpstr>Motiv Office</vt:lpstr>
      <vt:lpstr>Monitory</vt:lpstr>
      <vt:lpstr>Co je to monitor?</vt:lpstr>
      <vt:lpstr>Monochromatický monitor</vt:lpstr>
      <vt:lpstr>Černobílé monitory</vt:lpstr>
      <vt:lpstr>Barevné monitory</vt:lpstr>
      <vt:lpstr>Poměr stran</vt:lpstr>
      <vt:lpstr>Rozlišení</vt:lpstr>
      <vt:lpstr>PPI (pixels per inch)</vt:lpstr>
      <vt:lpstr>Obnovovací frekvence</vt:lpstr>
      <vt:lpstr>Technologie monitorů</vt:lpstr>
      <vt:lpstr>CRT</vt:lpstr>
      <vt:lpstr>Princip CRT</vt:lpstr>
      <vt:lpstr>LCD</vt:lpstr>
      <vt:lpstr>Princip LCD</vt:lpstr>
      <vt:lpstr>Prezentace aplikace PowerPoint</vt:lpstr>
      <vt:lpstr>Technologie LCD</vt:lpstr>
      <vt:lpstr>Princip TFT</vt:lpstr>
      <vt:lpstr>Typy LCD</vt:lpstr>
      <vt:lpstr>Princip TN</vt:lpstr>
      <vt:lpstr>Typy LCD</vt:lpstr>
      <vt:lpstr>Princip IPS</vt:lpstr>
      <vt:lpstr>LED vs CCFL</vt:lpstr>
      <vt:lpstr>QLED</vt:lpstr>
      <vt:lpstr>OLED monitory</vt:lpstr>
      <vt:lpstr>OLED monitory</vt:lpstr>
      <vt:lpstr>OLED (Organic Light Emitting Diode)</vt:lpstr>
      <vt:lpstr>Výhody OLED</vt:lpstr>
      <vt:lpstr>Srovnání technologií</vt:lpstr>
      <vt:lpstr>Připojení monitorů</vt:lpstr>
      <vt:lpstr>D-SUB/VGA</vt:lpstr>
      <vt:lpstr>DVI</vt:lpstr>
      <vt:lpstr>DVI</vt:lpstr>
      <vt:lpstr>HDMI</vt:lpstr>
      <vt:lpstr>DP (Display Port)</vt:lpstr>
      <vt:lpstr>E Ink</vt:lpstr>
      <vt:lpstr>E Ink</vt:lpstr>
      <vt:lpstr>E 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Monitory</dc:title>
  <dc:creator>Votýpka Martin</dc:creator>
  <cp:lastModifiedBy>Votýpka Martin</cp:lastModifiedBy>
  <cp:revision>33</cp:revision>
  <dcterms:created xsi:type="dcterms:W3CDTF">2023-01-30T11:10:22Z</dcterms:created>
  <dcterms:modified xsi:type="dcterms:W3CDTF">2023-06-01T06:32:27Z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0x010100CDFDD2BF6E96024C9EB0404A74ADE37A</vt:lpwstr>
  </property>
</Properties>
</file>