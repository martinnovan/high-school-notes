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1"/>
  </p:sldMasterIdLst>
  <p:notesMasterIdLst>
    <p:notesMasterId r:id="rId2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0" r:id="rId19"/>
    <p:sldId id="274" r:id="rId20"/>
    <p:sldId id="275" r:id="rId21"/>
    <p:sldId id="276" r:id="rId22"/>
    <p:sldId id="277" r:id="rId23"/>
    <p:sldId id="282" r:id="rId24"/>
    <p:sldId id="278" r:id="rId25"/>
    <p:sldId id="279" r:id="rId26"/>
    <p:sldId id="280" r:id="rId27"/>
    <p:sldId id="281" r:id="rId28"/>
  </p:sldIdLst>
  <p:sldSz cx="9144000" cy="6858000" type="screen4x3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0000"/>
    <a:srgbClr val="800000"/>
    <a:srgbClr val="0000FF"/>
    <a:srgbClr val="FFFF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01" autoAdjust="0"/>
    <p:restoredTop sz="94660"/>
  </p:normalViewPr>
  <p:slideViewPr>
    <p:cSldViewPr>
      <p:cViewPr varScale="1">
        <p:scale>
          <a:sx n="85" d="100"/>
          <a:sy n="85" d="100"/>
        </p:scale>
        <p:origin x="144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7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CC39ACA3-3005-D98A-EE04-2B878D99F0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FCD68A3D-4D47-9629-CBFF-8B29415F268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cs-CZ" altLang="cs-CZ"/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1C7256C1-F835-E42B-DAE4-0ECF8375E984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C4AE2F8A-081F-CE01-F0D0-3C28601D5B1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77830" name="Rectangle 6">
            <a:extLst>
              <a:ext uri="{FF2B5EF4-FFF2-40B4-BE49-F238E27FC236}">
                <a16:creationId xmlns:a16="http://schemas.microsoft.com/office/drawing/2014/main" id="{EA19B8C0-B8F1-AD60-F184-0CA3C3199F8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77831" name="Rectangle 7">
            <a:extLst>
              <a:ext uri="{FF2B5EF4-FFF2-40B4-BE49-F238E27FC236}">
                <a16:creationId xmlns:a16="http://schemas.microsoft.com/office/drawing/2014/main" id="{401D671C-9D40-7525-1A93-CB3197DCF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4DBDE64-4529-466C-B320-B7C424D3D3ED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Line 2">
            <a:extLst>
              <a:ext uri="{FF2B5EF4-FFF2-40B4-BE49-F238E27FC236}">
                <a16:creationId xmlns:a16="http://schemas.microsoft.com/office/drawing/2014/main" id="{CC36EB76-F0D3-41D7-F857-DEAD155DB7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411CD7A9-7957-6F1E-6F8B-7087B75A355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cs-CZ" altLang="en-US" noProof="0"/>
              <a:t>Klepnutím lze upravit styl předlohy nadpisů.</a:t>
            </a:r>
          </a:p>
        </p:txBody>
      </p:sp>
      <p:sp>
        <p:nvSpPr>
          <p:cNvPr id="69636" name="Rectangle 4">
            <a:extLst>
              <a:ext uri="{FF2B5EF4-FFF2-40B4-BE49-F238E27FC236}">
                <a16:creationId xmlns:a16="http://schemas.microsoft.com/office/drawing/2014/main" id="{186648CB-3D6B-3E1C-8C52-462FFAF145E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cs-CZ" altLang="en-US" noProof="0"/>
              <a:t>Klepnutím lze upravit styl předlohy podnadpisů.</a:t>
            </a:r>
          </a:p>
        </p:txBody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2F033520-C08B-2B0B-C3A1-2B60B5BC4D5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9638" name="Rectangle 6">
            <a:extLst>
              <a:ext uri="{FF2B5EF4-FFF2-40B4-BE49-F238E27FC236}">
                <a16:creationId xmlns:a16="http://schemas.microsoft.com/office/drawing/2014/main" id="{97E00500-F3F2-079E-59B0-586C4907795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9639" name="Rectangle 7">
            <a:extLst>
              <a:ext uri="{FF2B5EF4-FFF2-40B4-BE49-F238E27FC236}">
                <a16:creationId xmlns:a16="http://schemas.microsoft.com/office/drawing/2014/main" id="{CB447A9D-CD06-1D30-FC6D-97607246E89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72E316C-2CC4-465E-AEF7-1A6F18E11BD8}" type="slidenum">
              <a:rPr lang="cs-CZ" altLang="en-US"/>
              <a:pPr/>
              <a:t>‹#›</a:t>
            </a:fld>
            <a:endParaRPr lang="cs-CZ" altLang="en-US"/>
          </a:p>
        </p:txBody>
      </p:sp>
      <p:grpSp>
        <p:nvGrpSpPr>
          <p:cNvPr id="69640" name="Group 8">
            <a:extLst>
              <a:ext uri="{FF2B5EF4-FFF2-40B4-BE49-F238E27FC236}">
                <a16:creationId xmlns:a16="http://schemas.microsoft.com/office/drawing/2014/main" id="{20D534DB-41B5-9155-DDB4-770A66D8B35D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9641" name="Oval 9">
              <a:extLst>
                <a:ext uri="{FF2B5EF4-FFF2-40B4-BE49-F238E27FC236}">
                  <a16:creationId xmlns:a16="http://schemas.microsoft.com/office/drawing/2014/main" id="{BC19ACAC-B362-7617-E6E5-A819B62D8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2" name="Oval 10">
              <a:extLst>
                <a:ext uri="{FF2B5EF4-FFF2-40B4-BE49-F238E27FC236}">
                  <a16:creationId xmlns:a16="http://schemas.microsoft.com/office/drawing/2014/main" id="{7441CA14-F5D2-BBA6-4EC9-399EAD6CF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3" name="Oval 11">
              <a:extLst>
                <a:ext uri="{FF2B5EF4-FFF2-40B4-BE49-F238E27FC236}">
                  <a16:creationId xmlns:a16="http://schemas.microsoft.com/office/drawing/2014/main" id="{2C74E0D7-B72F-4424-7645-82F6D6767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4" name="Oval 12">
              <a:extLst>
                <a:ext uri="{FF2B5EF4-FFF2-40B4-BE49-F238E27FC236}">
                  <a16:creationId xmlns:a16="http://schemas.microsoft.com/office/drawing/2014/main" id="{969DA7BD-3F16-393F-DCC7-AA4ED385E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5" name="Oval 13">
              <a:extLst>
                <a:ext uri="{FF2B5EF4-FFF2-40B4-BE49-F238E27FC236}">
                  <a16:creationId xmlns:a16="http://schemas.microsoft.com/office/drawing/2014/main" id="{6E68D3F7-1AE7-B9AD-08B6-0613FD56B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6" name="Oval 14">
              <a:extLst>
                <a:ext uri="{FF2B5EF4-FFF2-40B4-BE49-F238E27FC236}">
                  <a16:creationId xmlns:a16="http://schemas.microsoft.com/office/drawing/2014/main" id="{E4E34459-22D7-A2FF-FCBD-221DCC2DD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7" name="Oval 15">
              <a:extLst>
                <a:ext uri="{FF2B5EF4-FFF2-40B4-BE49-F238E27FC236}">
                  <a16:creationId xmlns:a16="http://schemas.microsoft.com/office/drawing/2014/main" id="{43057184-9E52-0E07-174A-D720A4433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8" name="Oval 16">
              <a:extLst>
                <a:ext uri="{FF2B5EF4-FFF2-40B4-BE49-F238E27FC236}">
                  <a16:creationId xmlns:a16="http://schemas.microsoft.com/office/drawing/2014/main" id="{09BD4D4E-CC14-C498-4DC4-642FB218E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9" name="Oval 17">
              <a:extLst>
                <a:ext uri="{FF2B5EF4-FFF2-40B4-BE49-F238E27FC236}">
                  <a16:creationId xmlns:a16="http://schemas.microsoft.com/office/drawing/2014/main" id="{47ABEFE4-CC1C-2F71-B4C0-C5A3A7363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0" name="Oval 18">
              <a:extLst>
                <a:ext uri="{FF2B5EF4-FFF2-40B4-BE49-F238E27FC236}">
                  <a16:creationId xmlns:a16="http://schemas.microsoft.com/office/drawing/2014/main" id="{FD7634DE-1FD0-BCCD-33E8-BA1187327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1" name="Oval 19">
              <a:extLst>
                <a:ext uri="{FF2B5EF4-FFF2-40B4-BE49-F238E27FC236}">
                  <a16:creationId xmlns:a16="http://schemas.microsoft.com/office/drawing/2014/main" id="{9B65CA7B-6AF0-08F3-27F6-AFD464902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2" name="Oval 20">
              <a:extLst>
                <a:ext uri="{FF2B5EF4-FFF2-40B4-BE49-F238E27FC236}">
                  <a16:creationId xmlns:a16="http://schemas.microsoft.com/office/drawing/2014/main" id="{257E2BBD-A72F-6E02-C5AF-20F07406E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3" name="Oval 21">
              <a:extLst>
                <a:ext uri="{FF2B5EF4-FFF2-40B4-BE49-F238E27FC236}">
                  <a16:creationId xmlns:a16="http://schemas.microsoft.com/office/drawing/2014/main" id="{99BF6AC2-D400-7054-A851-9C2025850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4" name="Oval 22">
              <a:extLst>
                <a:ext uri="{FF2B5EF4-FFF2-40B4-BE49-F238E27FC236}">
                  <a16:creationId xmlns:a16="http://schemas.microsoft.com/office/drawing/2014/main" id="{3E3CDEB4-C911-045A-DF4F-252AF6DAD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5" name="Oval 23">
              <a:extLst>
                <a:ext uri="{FF2B5EF4-FFF2-40B4-BE49-F238E27FC236}">
                  <a16:creationId xmlns:a16="http://schemas.microsoft.com/office/drawing/2014/main" id="{97822978-75B8-C30D-198B-0823E455F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6" name="Oval 24">
              <a:extLst>
                <a:ext uri="{FF2B5EF4-FFF2-40B4-BE49-F238E27FC236}">
                  <a16:creationId xmlns:a16="http://schemas.microsoft.com/office/drawing/2014/main" id="{D904FE6C-EDFE-9DE5-4DD2-E15374BDC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7" name="Oval 25">
              <a:extLst>
                <a:ext uri="{FF2B5EF4-FFF2-40B4-BE49-F238E27FC236}">
                  <a16:creationId xmlns:a16="http://schemas.microsoft.com/office/drawing/2014/main" id="{424FB001-2AAA-FF02-83A3-35336E927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8" name="Oval 26">
              <a:extLst>
                <a:ext uri="{FF2B5EF4-FFF2-40B4-BE49-F238E27FC236}">
                  <a16:creationId xmlns:a16="http://schemas.microsoft.com/office/drawing/2014/main" id="{C286D0D0-7650-4F93-0DD4-E4097AF4F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9" name="Oval 27">
              <a:extLst>
                <a:ext uri="{FF2B5EF4-FFF2-40B4-BE49-F238E27FC236}">
                  <a16:creationId xmlns:a16="http://schemas.microsoft.com/office/drawing/2014/main" id="{D5631F0B-D66F-188C-C4E5-C7E0EF42A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0" name="Oval 28">
              <a:extLst>
                <a:ext uri="{FF2B5EF4-FFF2-40B4-BE49-F238E27FC236}">
                  <a16:creationId xmlns:a16="http://schemas.microsoft.com/office/drawing/2014/main" id="{3124B082-7469-B2D1-6E7C-11EBCF342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1" name="Oval 29">
              <a:extLst>
                <a:ext uri="{FF2B5EF4-FFF2-40B4-BE49-F238E27FC236}">
                  <a16:creationId xmlns:a16="http://schemas.microsoft.com/office/drawing/2014/main" id="{19FCC246-8054-2256-99C4-4974CFDBB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2" name="Oval 30">
              <a:extLst>
                <a:ext uri="{FF2B5EF4-FFF2-40B4-BE49-F238E27FC236}">
                  <a16:creationId xmlns:a16="http://schemas.microsoft.com/office/drawing/2014/main" id="{3246675C-4E2A-371C-9F71-D022100F1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3" name="Oval 31">
              <a:extLst>
                <a:ext uri="{FF2B5EF4-FFF2-40B4-BE49-F238E27FC236}">
                  <a16:creationId xmlns:a16="http://schemas.microsoft.com/office/drawing/2014/main" id="{FB08AEFD-CA04-F870-7BAD-2DDED6785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4" name="Oval 32">
              <a:extLst>
                <a:ext uri="{FF2B5EF4-FFF2-40B4-BE49-F238E27FC236}">
                  <a16:creationId xmlns:a16="http://schemas.microsoft.com/office/drawing/2014/main" id="{DE311828-35F3-8F10-43E3-B10C7423B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5" name="Oval 33">
              <a:extLst>
                <a:ext uri="{FF2B5EF4-FFF2-40B4-BE49-F238E27FC236}">
                  <a16:creationId xmlns:a16="http://schemas.microsoft.com/office/drawing/2014/main" id="{C1220320-6D22-9B53-0791-6AADE5D11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6" name="Oval 34">
              <a:extLst>
                <a:ext uri="{FF2B5EF4-FFF2-40B4-BE49-F238E27FC236}">
                  <a16:creationId xmlns:a16="http://schemas.microsoft.com/office/drawing/2014/main" id="{9FCD6B30-759D-1B2A-7B53-58CBE7081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7" name="Oval 35">
              <a:extLst>
                <a:ext uri="{FF2B5EF4-FFF2-40B4-BE49-F238E27FC236}">
                  <a16:creationId xmlns:a16="http://schemas.microsoft.com/office/drawing/2014/main" id="{BE87D066-F917-352F-7025-1E74380E2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8" name="Oval 36">
              <a:extLst>
                <a:ext uri="{FF2B5EF4-FFF2-40B4-BE49-F238E27FC236}">
                  <a16:creationId xmlns:a16="http://schemas.microsoft.com/office/drawing/2014/main" id="{06F22B70-FCF5-1024-47F6-1562150F6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9" name="Oval 37">
              <a:extLst>
                <a:ext uri="{FF2B5EF4-FFF2-40B4-BE49-F238E27FC236}">
                  <a16:creationId xmlns:a16="http://schemas.microsoft.com/office/drawing/2014/main" id="{B503DE28-B92E-1E62-ADEB-7D4042709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70" name="Oval 38">
              <a:extLst>
                <a:ext uri="{FF2B5EF4-FFF2-40B4-BE49-F238E27FC236}">
                  <a16:creationId xmlns:a16="http://schemas.microsoft.com/office/drawing/2014/main" id="{94306F48-028F-9BA7-2B35-35BE3460A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71" name="Oval 39">
              <a:extLst>
                <a:ext uri="{FF2B5EF4-FFF2-40B4-BE49-F238E27FC236}">
                  <a16:creationId xmlns:a16="http://schemas.microsoft.com/office/drawing/2014/main" id="{891A1AB4-F396-C1D2-1DC0-A9A5D14DC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</p:grpSp>
      <p:sp>
        <p:nvSpPr>
          <p:cNvPr id="69672" name="Line 40">
            <a:extLst>
              <a:ext uri="{FF2B5EF4-FFF2-40B4-BE49-F238E27FC236}">
                <a16:creationId xmlns:a16="http://schemas.microsoft.com/office/drawing/2014/main" id="{EBD8BAB2-199C-023C-87F7-1E6F1B474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A0B51D-62F2-ECEF-8C1C-E7745D33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C77128C-050C-1EF8-7AC1-D058DA5FA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61068E2-0CC7-2332-A0EF-82863FF74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104D634-593B-C6F2-1A65-CF2E4BD9E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9AFB3CB-F17C-62B2-AFDB-102EEB4CC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D6F0AB-8D84-4E4A-AC61-DF2D67FA020A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559648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44970E-B8AA-87C4-EDFD-7829290E6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3ACA7A-6274-3EB3-B4CC-CE74E69C3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2CC082C-2789-F645-D6EC-8FBFDC04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34B94AA-BFFB-5C4C-7741-BBD9997B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5B13B20-A15E-5B65-8245-DEEB9E38D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4F1796-3B05-43B5-AFD8-B5893ECB4F87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2211144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D407D1-159B-D5DB-1F06-86C539006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2109F7-06E3-9BF1-E0FA-7285CA881E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587C492-4016-7348-F344-DCE3D21AD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C93EF0A-9DCA-DE2A-91D9-582DFDA3D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9F0A6D5-EFFE-0E8D-A567-CB39AE179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097628D-D4CD-91DD-ED96-43BFF96F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E04E7C-D720-4027-B911-522BEDFA4394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16235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FA897F-6A4A-64BC-9580-BECBF8EB6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CEF491D-39A5-4AC7-B64E-54B48ED05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42B0AB3-8A36-6168-F15F-2E5EDD5C7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18A3223-C082-43AF-89D5-FC3CB4D7D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523A9FB-2793-43B3-5B02-022E57498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9583120-9EAE-A4CC-BAF1-2EF92EED9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1DF9E12-8816-3FAB-762D-87A7BFC2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F4865D6-654E-932A-E85E-80682BBE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EE057D-2817-4B2A-BFBD-E1F294A36260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2024353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F2E034-224F-B1EA-71FC-13E897018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C345273-4853-0180-04BF-15C9D2238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49B5EFD-7B38-666B-8E41-57AAE1AF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DFE42FB-D491-4C79-8919-65DBFF63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11A2E9-715F-44D3-8B16-44629444171C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98922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91A52CF1-C192-1EB1-E83B-87AC993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91B3C99-F751-C2D8-2668-28FD2B131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A6C0C37-2C2C-2739-0449-69F881233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150B51-431B-4A11-82C9-C78490BE9876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3649397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19A9A8-FBD8-DE3B-9AA5-4C036BBBD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3278AA-8CAA-E6F9-2496-073595670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B631556-7F89-F418-10E2-BFE4331D4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A1F4275-959D-7688-AE8B-23154D8DB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844402A-EE00-B127-90E1-03C3598C9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52E693-E4BA-C001-5CA3-B2365659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2C3B98-8DFA-4F49-8AED-867241A42EC5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15342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7172A5-6C95-E080-4C3D-395CFBFA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FBD6E45-3E99-B287-DC45-EFE30FC7C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BCCE489-3FF0-020A-0E34-7E77DD773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A38BF8E-B748-43C3-13F6-AC811F996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6207729-AE18-EA0B-9B6C-A69B4CAAC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36A2D79-9CEA-30F6-97E8-8EFC753D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7D763-0974-4EB1-B874-4EB1E84B4B99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01902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1416CF-3A70-813E-69BD-7171535CA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AEDD230-A780-F7D9-6DED-509CB6489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03BD625-F2B0-824C-4D9B-BEADABB39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CCFDCD3-BCA0-8FB9-763E-A1DACEAB1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8A5C8EA-1AC9-72B5-6BDE-818802CCB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ECFB3E-38E8-453A-8CE3-51A931167F5A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360488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05ADDBC-1688-9482-2852-1F4C2DD3F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9E5CA47-84D9-38C1-1536-0DAE353F6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146F74B-0066-A1A6-29C5-0B36CB723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C7491CC-4AC2-8408-DC36-6825105A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5388E15-E25A-F7CB-3BBC-E35873AE1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E30FFA-70A4-4BA0-ACDA-B1CFC474DD5C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2650108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48E56E-B6A1-5239-3E7F-E920A792D1CA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6EC3A7-EBC7-4276-CA83-F44F2C0DBD6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719263"/>
            <a:ext cx="4038600" cy="2128837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0BF7218-05AF-114B-98F7-57C0824F0C3E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014C5DE0-76E5-EA98-3CD4-5ED0C7DABC9F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21304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A485D348-D72B-5B5C-F8B1-03189BD7B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859578A3-0E06-BBE2-7E08-3C62EF908F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CF4C7547-0E29-73CA-D9A7-42B966AA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79DC086-B710-0CDA-E9D6-71CF63900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97A624B-9B54-48CE-B202-658559AD0B66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155229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Nadpis, text a 2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5EC0B5-1B30-A243-4675-E9DA88B2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9E78704-3986-8A2F-9825-11AC936A424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A82D7AC-8B95-0585-DA85-FC19DB10853A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19FA3EA2-9CF3-0196-942B-2153BA9A970F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datum 5">
            <a:extLst>
              <a:ext uri="{FF2B5EF4-FFF2-40B4-BE49-F238E27FC236}">
                <a16:creationId xmlns:a16="http://schemas.microsoft.com/office/drawing/2014/main" id="{ADBABCCB-3E30-357D-6981-48BB7A505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7" name="Zástupný symbol pro zápatí 6">
            <a:extLst>
              <a:ext uri="{FF2B5EF4-FFF2-40B4-BE49-F238E27FC236}">
                <a16:creationId xmlns:a16="http://schemas.microsoft.com/office/drawing/2014/main" id="{A012ED12-3941-C5EB-E5EC-B2C73445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8" name="Zástupný symbol pro číslo snímku 7">
            <a:extLst>
              <a:ext uri="{FF2B5EF4-FFF2-40B4-BE49-F238E27FC236}">
                <a16:creationId xmlns:a16="http://schemas.microsoft.com/office/drawing/2014/main" id="{B59005FD-3F57-B838-E380-4F1E2B9B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CB34FA9-329D-42E5-8113-7B04B259DB71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3112495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95A3D4-2D33-066F-1A1A-F2BECD908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0121B2A-868E-69FD-E395-F2F07972B86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E77496B-56D5-664C-254C-58FB43DFD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E37050-674E-B613-DDEF-DC48FDF1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BF6742C-4EE4-6802-F092-309DF4B46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0D469C3-3A4E-7301-A929-4675C9639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B1630F4-1356-4684-829C-EA6DDB53393B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416711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Line 2">
            <a:extLst>
              <a:ext uri="{FF2B5EF4-FFF2-40B4-BE49-F238E27FC236}">
                <a16:creationId xmlns:a16="http://schemas.microsoft.com/office/drawing/2014/main" id="{70069383-CFCE-8FAD-F20D-1FEDCC15B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A1B546EB-9FB0-A905-09DF-E9FA6731C0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en-US"/>
              <a:t>Klepnutím lze upravit styl předlohy nadpisů.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1261C30C-E9C1-3EDB-225E-0AA475DC0C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en-US"/>
              <a:t>Klepnutím lze upravit styly předlohy textu.</a:t>
            </a:r>
          </a:p>
          <a:p>
            <a:pPr lvl="1"/>
            <a:r>
              <a:rPr lang="cs-CZ" altLang="en-US"/>
              <a:t>Druhá úroveň</a:t>
            </a:r>
          </a:p>
          <a:p>
            <a:pPr lvl="2"/>
            <a:r>
              <a:rPr lang="cs-CZ" altLang="en-US"/>
              <a:t>Třetí úroveň</a:t>
            </a:r>
          </a:p>
          <a:p>
            <a:pPr lvl="3"/>
            <a:r>
              <a:rPr lang="cs-CZ" altLang="en-US"/>
              <a:t>Čtvrtá úroveň</a:t>
            </a:r>
          </a:p>
          <a:p>
            <a:pPr lvl="4"/>
            <a:r>
              <a:rPr lang="cs-CZ" altLang="en-US"/>
              <a:t>Pátá úroveň</a:t>
            </a:r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A675A6E0-EFC4-4B1C-F12A-FD70BCAABBF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cs-CZ" altLang="en-US"/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16C41333-4692-7251-A16E-917E2AA2051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cs-CZ" altLang="en-US"/>
          </a:p>
        </p:txBody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2AB53701-FA90-5DD1-FD6B-A872161EABD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ACCE6FE5-B7D0-4F3F-B0B6-98F97A9ABDBF}" type="slidenum">
              <a:rPr lang="cs-CZ" altLang="en-US"/>
              <a:pPr/>
              <a:t>‹#›</a:t>
            </a:fld>
            <a:endParaRPr lang="cs-CZ" altLang="en-US"/>
          </a:p>
        </p:txBody>
      </p:sp>
      <p:grpSp>
        <p:nvGrpSpPr>
          <p:cNvPr id="68616" name="Group 8">
            <a:extLst>
              <a:ext uri="{FF2B5EF4-FFF2-40B4-BE49-F238E27FC236}">
                <a16:creationId xmlns:a16="http://schemas.microsoft.com/office/drawing/2014/main" id="{6A8609FD-EF10-4319-E1C6-34F66D5B3299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68617" name="Oval 9">
              <a:extLst>
                <a:ext uri="{FF2B5EF4-FFF2-40B4-BE49-F238E27FC236}">
                  <a16:creationId xmlns:a16="http://schemas.microsoft.com/office/drawing/2014/main" id="{3DB729D3-7685-E176-7326-6BCD860BB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18" name="Oval 10">
              <a:extLst>
                <a:ext uri="{FF2B5EF4-FFF2-40B4-BE49-F238E27FC236}">
                  <a16:creationId xmlns:a16="http://schemas.microsoft.com/office/drawing/2014/main" id="{2BD0D730-7F61-4F80-9D5C-6A7EE609A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19" name="Oval 11">
              <a:extLst>
                <a:ext uri="{FF2B5EF4-FFF2-40B4-BE49-F238E27FC236}">
                  <a16:creationId xmlns:a16="http://schemas.microsoft.com/office/drawing/2014/main" id="{5F92A417-E9C9-BD75-37F9-A49B94E1C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0" name="Oval 12">
              <a:extLst>
                <a:ext uri="{FF2B5EF4-FFF2-40B4-BE49-F238E27FC236}">
                  <a16:creationId xmlns:a16="http://schemas.microsoft.com/office/drawing/2014/main" id="{B4C23A10-9F07-784C-02BE-8C6EAD364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1" name="Oval 13">
              <a:extLst>
                <a:ext uri="{FF2B5EF4-FFF2-40B4-BE49-F238E27FC236}">
                  <a16:creationId xmlns:a16="http://schemas.microsoft.com/office/drawing/2014/main" id="{8C31C55B-AA2A-921B-D61B-4FC728115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2" name="Oval 14">
              <a:extLst>
                <a:ext uri="{FF2B5EF4-FFF2-40B4-BE49-F238E27FC236}">
                  <a16:creationId xmlns:a16="http://schemas.microsoft.com/office/drawing/2014/main" id="{60F1EAC4-5808-F0D0-02DE-E9F097AF1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3" name="Oval 15">
              <a:extLst>
                <a:ext uri="{FF2B5EF4-FFF2-40B4-BE49-F238E27FC236}">
                  <a16:creationId xmlns:a16="http://schemas.microsoft.com/office/drawing/2014/main" id="{A1FA1F6F-1775-DD3B-8DCF-D262E4E91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4" name="Oval 16">
              <a:extLst>
                <a:ext uri="{FF2B5EF4-FFF2-40B4-BE49-F238E27FC236}">
                  <a16:creationId xmlns:a16="http://schemas.microsoft.com/office/drawing/2014/main" id="{70F3B895-FAB5-7CC9-6F91-13843BC72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5" name="Oval 17">
              <a:extLst>
                <a:ext uri="{FF2B5EF4-FFF2-40B4-BE49-F238E27FC236}">
                  <a16:creationId xmlns:a16="http://schemas.microsoft.com/office/drawing/2014/main" id="{ADF7A6FD-19F5-9EA4-95F0-4AA709549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6" name="Oval 18">
              <a:extLst>
                <a:ext uri="{FF2B5EF4-FFF2-40B4-BE49-F238E27FC236}">
                  <a16:creationId xmlns:a16="http://schemas.microsoft.com/office/drawing/2014/main" id="{7389B5EE-F539-5370-3FAE-E20F358DB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7" name="Oval 19">
              <a:extLst>
                <a:ext uri="{FF2B5EF4-FFF2-40B4-BE49-F238E27FC236}">
                  <a16:creationId xmlns:a16="http://schemas.microsoft.com/office/drawing/2014/main" id="{D188684F-3F64-CB97-787B-F7784BC9F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8" name="Oval 20">
              <a:extLst>
                <a:ext uri="{FF2B5EF4-FFF2-40B4-BE49-F238E27FC236}">
                  <a16:creationId xmlns:a16="http://schemas.microsoft.com/office/drawing/2014/main" id="{9B21406A-211A-53A8-CBA8-478E8A940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9" name="Oval 21">
              <a:extLst>
                <a:ext uri="{FF2B5EF4-FFF2-40B4-BE49-F238E27FC236}">
                  <a16:creationId xmlns:a16="http://schemas.microsoft.com/office/drawing/2014/main" id="{49FD5205-63EC-3C2D-3905-D8BAB40CB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0" name="Oval 22">
              <a:extLst>
                <a:ext uri="{FF2B5EF4-FFF2-40B4-BE49-F238E27FC236}">
                  <a16:creationId xmlns:a16="http://schemas.microsoft.com/office/drawing/2014/main" id="{AB270F0A-5623-7053-740A-7017BEA1F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1" name="Oval 23">
              <a:extLst>
                <a:ext uri="{FF2B5EF4-FFF2-40B4-BE49-F238E27FC236}">
                  <a16:creationId xmlns:a16="http://schemas.microsoft.com/office/drawing/2014/main" id="{664664EA-DEB6-1D4C-AD3A-FAE0672EF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2" name="Oval 24">
              <a:extLst>
                <a:ext uri="{FF2B5EF4-FFF2-40B4-BE49-F238E27FC236}">
                  <a16:creationId xmlns:a16="http://schemas.microsoft.com/office/drawing/2014/main" id="{38F00A17-F7D5-9BAE-3F5C-87FA4367D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3" name="Oval 25">
              <a:extLst>
                <a:ext uri="{FF2B5EF4-FFF2-40B4-BE49-F238E27FC236}">
                  <a16:creationId xmlns:a16="http://schemas.microsoft.com/office/drawing/2014/main" id="{EA7F3ED9-AEAE-B831-2B3A-C2C94CC29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4" name="Oval 26">
              <a:extLst>
                <a:ext uri="{FF2B5EF4-FFF2-40B4-BE49-F238E27FC236}">
                  <a16:creationId xmlns:a16="http://schemas.microsoft.com/office/drawing/2014/main" id="{03DB2CEA-878D-8645-8A98-84721DB52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5" name="Oval 27">
              <a:extLst>
                <a:ext uri="{FF2B5EF4-FFF2-40B4-BE49-F238E27FC236}">
                  <a16:creationId xmlns:a16="http://schemas.microsoft.com/office/drawing/2014/main" id="{8AFA33C0-AEF0-847B-394A-6F44E07A7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6" name="Oval 28">
              <a:extLst>
                <a:ext uri="{FF2B5EF4-FFF2-40B4-BE49-F238E27FC236}">
                  <a16:creationId xmlns:a16="http://schemas.microsoft.com/office/drawing/2014/main" id="{A3DD3725-337A-41ED-EEB5-81AC1C48A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7" name="Oval 29">
              <a:extLst>
                <a:ext uri="{FF2B5EF4-FFF2-40B4-BE49-F238E27FC236}">
                  <a16:creationId xmlns:a16="http://schemas.microsoft.com/office/drawing/2014/main" id="{E3DBCAF8-FF09-ECE4-0AE3-C837ACF59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8" name="Oval 30">
              <a:extLst>
                <a:ext uri="{FF2B5EF4-FFF2-40B4-BE49-F238E27FC236}">
                  <a16:creationId xmlns:a16="http://schemas.microsoft.com/office/drawing/2014/main" id="{6AE4975B-BA84-F4F5-A8C1-CE3B04F6C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9" name="Oval 31">
              <a:extLst>
                <a:ext uri="{FF2B5EF4-FFF2-40B4-BE49-F238E27FC236}">
                  <a16:creationId xmlns:a16="http://schemas.microsoft.com/office/drawing/2014/main" id="{E0B47C88-12BC-9BFC-63B3-264EA4F87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0" name="Oval 32">
              <a:extLst>
                <a:ext uri="{FF2B5EF4-FFF2-40B4-BE49-F238E27FC236}">
                  <a16:creationId xmlns:a16="http://schemas.microsoft.com/office/drawing/2014/main" id="{AF435C49-7AE2-A27E-CEAD-20CD82EF9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1" name="Oval 33">
              <a:extLst>
                <a:ext uri="{FF2B5EF4-FFF2-40B4-BE49-F238E27FC236}">
                  <a16:creationId xmlns:a16="http://schemas.microsoft.com/office/drawing/2014/main" id="{85FBDACA-04D5-E389-BC90-6370A5F37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2" name="Oval 34">
              <a:extLst>
                <a:ext uri="{FF2B5EF4-FFF2-40B4-BE49-F238E27FC236}">
                  <a16:creationId xmlns:a16="http://schemas.microsoft.com/office/drawing/2014/main" id="{D02683D8-1BE4-0D06-55FA-448E4DEE9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3" name="Oval 35">
              <a:extLst>
                <a:ext uri="{FF2B5EF4-FFF2-40B4-BE49-F238E27FC236}">
                  <a16:creationId xmlns:a16="http://schemas.microsoft.com/office/drawing/2014/main" id="{BFE8EE8A-BC38-37D9-A6D3-6DBB75A0B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4" name="Oval 36">
              <a:extLst>
                <a:ext uri="{FF2B5EF4-FFF2-40B4-BE49-F238E27FC236}">
                  <a16:creationId xmlns:a16="http://schemas.microsoft.com/office/drawing/2014/main" id="{AFB4C5A5-327D-4F11-FF35-2FE52E9A3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5" name="Oval 37">
              <a:extLst>
                <a:ext uri="{FF2B5EF4-FFF2-40B4-BE49-F238E27FC236}">
                  <a16:creationId xmlns:a16="http://schemas.microsoft.com/office/drawing/2014/main" id="{4BDC4154-870C-10F8-4524-06AC240F6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6" name="Oval 38">
              <a:extLst>
                <a:ext uri="{FF2B5EF4-FFF2-40B4-BE49-F238E27FC236}">
                  <a16:creationId xmlns:a16="http://schemas.microsoft.com/office/drawing/2014/main" id="{EB46904C-CBED-4CCC-394D-801D6083C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7" name="Oval 39">
              <a:extLst>
                <a:ext uri="{FF2B5EF4-FFF2-40B4-BE49-F238E27FC236}">
                  <a16:creationId xmlns:a16="http://schemas.microsoft.com/office/drawing/2014/main" id="{DC9AB257-8BFE-500A-E9CF-AA956AB74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abby-word.do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1A56ED2-A85B-3E27-F45F-49219574007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cs-CZ" altLang="cs-CZ" sz="8800"/>
              <a:t>Skenování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982F7F9-3E7B-F728-3E4E-6E564EEE55D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altLang="cs-CZ" sz="4000" b="1">
                <a:solidFill>
                  <a:schemeClr val="accent2"/>
                </a:solidFill>
              </a:rPr>
              <a:t>Scannery</a:t>
            </a:r>
          </a:p>
          <a:p>
            <a:r>
              <a:rPr lang="cs-CZ" altLang="cs-CZ" sz="4000" b="1">
                <a:solidFill>
                  <a:schemeClr val="accent2"/>
                </a:solidFill>
              </a:rPr>
              <a:t>Postup</a:t>
            </a:r>
          </a:p>
          <a:p>
            <a:r>
              <a:rPr lang="cs-CZ" altLang="cs-CZ" sz="4000" b="1">
                <a:solidFill>
                  <a:schemeClr val="accent2"/>
                </a:solidFill>
              </a:rPr>
              <a:t>OCR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BE5D6EF9-A296-30B8-504A-42D8FBC4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1923C-AA13-46FB-B7CC-2DE4F3CA748A}" type="slidenum">
              <a:rPr lang="cs-CZ" altLang="en-US"/>
              <a:pPr/>
              <a:t>2</a:t>
            </a:fld>
            <a:endParaRPr lang="cs-CZ" altLang="en-US"/>
          </a:p>
        </p:txBody>
      </p:sp>
      <p:pic>
        <p:nvPicPr>
          <p:cNvPr id="201732" name="Picture 4">
            <a:extLst>
              <a:ext uri="{FF2B5EF4-FFF2-40B4-BE49-F238E27FC236}">
                <a16:creationId xmlns:a16="http://schemas.microsoft.com/office/drawing/2014/main" id="{1A8C284C-C779-375C-6041-E19D8EEF0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4292600"/>
            <a:ext cx="4427537" cy="178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1730" name="Rectangle 2">
            <a:extLst>
              <a:ext uri="{FF2B5EF4-FFF2-40B4-BE49-F238E27FC236}">
                <a16:creationId xmlns:a16="http://schemas.microsoft.com/office/drawing/2014/main" id="{0472336F-CDC3-1FE8-2B8E-E3036DA17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Scannery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C9AD77DB-6DCE-E5CB-5B4D-4A4FB00441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sz="3200"/>
              <a:t>Zařízení pro digitalizaci textu a grafiky z tištěné formy. </a:t>
            </a:r>
          </a:p>
          <a:p>
            <a:r>
              <a:rPr lang="cs-CZ" altLang="cs-CZ" sz="3200"/>
              <a:t>Podle způsobu snímání předlohy lze scannery rozdělit:</a:t>
            </a:r>
          </a:p>
          <a:p>
            <a:pPr lvl="1"/>
            <a:r>
              <a:rPr lang="cs-CZ" altLang="cs-CZ" sz="3000" b="1"/>
              <a:t>Ruční</a:t>
            </a:r>
            <a:r>
              <a:rPr lang="cs-CZ" altLang="cs-CZ" sz="3000"/>
              <a:t> (čtečka čárových kódů)</a:t>
            </a:r>
          </a:p>
          <a:p>
            <a:pPr lvl="1"/>
            <a:r>
              <a:rPr lang="cs-CZ" altLang="cs-CZ" sz="3000" b="1"/>
              <a:t>Stolní (deskový) </a:t>
            </a:r>
          </a:p>
          <a:p>
            <a:pPr lvl="1"/>
            <a:r>
              <a:rPr lang="cs-CZ" altLang="cs-CZ" sz="3000" b="1"/>
              <a:t>Průchodové</a:t>
            </a:r>
            <a:endParaRPr lang="cs-CZ" altLang="cs-CZ"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8">
            <a:extLst>
              <a:ext uri="{FF2B5EF4-FFF2-40B4-BE49-F238E27FC236}">
                <a16:creationId xmlns:a16="http://schemas.microsoft.com/office/drawing/2014/main" id="{779569BE-E7C9-B12E-C498-361B3B29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1A98-489E-4E1F-999D-29322EE52A48}" type="slidenum">
              <a:rPr lang="cs-CZ" altLang="en-US"/>
              <a:pPr/>
              <a:t>3</a:t>
            </a:fld>
            <a:endParaRPr lang="cs-CZ" altLang="en-US"/>
          </a:p>
        </p:txBody>
      </p:sp>
      <p:pic>
        <p:nvPicPr>
          <p:cNvPr id="206859" name="Picture 11">
            <a:extLst>
              <a:ext uri="{FF2B5EF4-FFF2-40B4-BE49-F238E27FC236}">
                <a16:creationId xmlns:a16="http://schemas.microsoft.com/office/drawing/2014/main" id="{A57D5143-0414-D1EE-BB08-F30163D04FB3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3933825"/>
            <a:ext cx="2595563" cy="27066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6850" name="Rectangle 2">
            <a:extLst>
              <a:ext uri="{FF2B5EF4-FFF2-40B4-BE49-F238E27FC236}">
                <a16:creationId xmlns:a16="http://schemas.microsoft.com/office/drawing/2014/main" id="{0F151E88-C5E9-DB4C-11DE-B28F0DA6B553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r>
              <a:rPr lang="cs-CZ" altLang="cs-CZ"/>
              <a:t>Scannery</a:t>
            </a:r>
          </a:p>
        </p:txBody>
      </p:sp>
      <p:pic>
        <p:nvPicPr>
          <p:cNvPr id="206857" name="Picture 9">
            <a:extLst>
              <a:ext uri="{FF2B5EF4-FFF2-40B4-BE49-F238E27FC236}">
                <a16:creationId xmlns:a16="http://schemas.microsoft.com/office/drawing/2014/main" id="{4BE33F01-824C-6DFC-E264-747E009F434E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40425" y="1844675"/>
            <a:ext cx="2970213" cy="3241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6858" name="Picture 10">
            <a:extLst>
              <a:ext uri="{FF2B5EF4-FFF2-40B4-BE49-F238E27FC236}">
                <a16:creationId xmlns:a16="http://schemas.microsoft.com/office/drawing/2014/main" id="{E0FDF94F-8F78-268C-DE46-2423E065472A}"/>
              </a:ext>
            </a:extLst>
          </p:cNvPr>
          <p:cNvPicPr>
            <a:picLocks noChangeAspect="1" noChangeArrowheads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43213" y="3789363"/>
            <a:ext cx="3095625" cy="2752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6860" name="Picture 12">
            <a:extLst>
              <a:ext uri="{FF2B5EF4-FFF2-40B4-BE49-F238E27FC236}">
                <a16:creationId xmlns:a16="http://schemas.microsoft.com/office/drawing/2014/main" id="{EE0D1254-C5FB-CBD7-5F81-E2C512AE3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692150"/>
            <a:ext cx="3240087" cy="254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62" name="Picture 14">
            <a:extLst>
              <a:ext uri="{FF2B5EF4-FFF2-40B4-BE49-F238E27FC236}">
                <a16:creationId xmlns:a16="http://schemas.microsoft.com/office/drawing/2014/main" id="{90F7DB72-98A7-4998-3EC5-F1D07A097C82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1557338"/>
            <a:ext cx="2311400" cy="24749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B26CC2D6-305D-3FEB-A99E-ADA606A4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D3D2B-4700-4620-826E-56A45401BF89}" type="slidenum">
              <a:rPr lang="cs-CZ" altLang="en-US"/>
              <a:pPr/>
              <a:t>4</a:t>
            </a:fld>
            <a:endParaRPr lang="cs-CZ" altLang="en-US"/>
          </a:p>
        </p:txBody>
      </p:sp>
      <p:sp>
        <p:nvSpPr>
          <p:cNvPr id="202754" name="Rectangle 2">
            <a:extLst>
              <a:ext uri="{FF2B5EF4-FFF2-40B4-BE49-F238E27FC236}">
                <a16:creationId xmlns:a16="http://schemas.microsoft.com/office/drawing/2014/main" id="{91E46FFC-0D79-4AF5-10F2-97A38421B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Scannery</a:t>
            </a: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06695F26-4BE9-FA6A-C727-8C2183FD5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sz="3200"/>
              <a:t>Způsoby připojení scannerů k počítači:</a:t>
            </a:r>
          </a:p>
          <a:p>
            <a:pPr lvl="1"/>
            <a:r>
              <a:rPr lang="cs-CZ" altLang="cs-CZ" sz="3200" b="1">
                <a:solidFill>
                  <a:schemeClr val="tx2"/>
                </a:solidFill>
              </a:rPr>
              <a:t>LPT, COM</a:t>
            </a:r>
            <a:r>
              <a:rPr lang="cs-CZ" altLang="cs-CZ" sz="3200"/>
              <a:t> – starší scannery (pomalé)</a:t>
            </a:r>
          </a:p>
          <a:p>
            <a:pPr lvl="1"/>
            <a:r>
              <a:rPr lang="cs-CZ" altLang="cs-CZ" sz="3200" b="1">
                <a:solidFill>
                  <a:schemeClr val="tx2"/>
                </a:solidFill>
              </a:rPr>
              <a:t>SCSII</a:t>
            </a:r>
            <a:r>
              <a:rPr lang="cs-CZ" altLang="cs-CZ" sz="3200"/>
              <a:t> – nutnost SCSII řadiče v počítači</a:t>
            </a:r>
          </a:p>
          <a:p>
            <a:pPr lvl="1"/>
            <a:r>
              <a:rPr lang="cs-CZ" altLang="cs-CZ" sz="3200" b="1">
                <a:solidFill>
                  <a:schemeClr val="tx2"/>
                </a:solidFill>
              </a:rPr>
              <a:t>USB</a:t>
            </a:r>
            <a:r>
              <a:rPr lang="cs-CZ" altLang="cs-CZ" sz="3200"/>
              <a:t> – současný standard </a:t>
            </a:r>
          </a:p>
          <a:p>
            <a:r>
              <a:rPr lang="cs-CZ" altLang="cs-CZ" sz="3200"/>
              <a:t>Scannery bývají často součástí </a:t>
            </a:r>
            <a:r>
              <a:rPr lang="cs-CZ" altLang="cs-CZ" sz="3200" b="1">
                <a:solidFill>
                  <a:schemeClr val="accent2"/>
                </a:solidFill>
              </a:rPr>
              <a:t>„multifunkčních zařízení“</a:t>
            </a:r>
            <a:r>
              <a:rPr lang="cs-CZ" altLang="cs-CZ" sz="3200"/>
              <a:t> </a:t>
            </a:r>
            <a:br>
              <a:rPr lang="cs-CZ" altLang="cs-CZ" sz="3200"/>
            </a:br>
            <a:r>
              <a:rPr lang="cs-CZ" altLang="cs-CZ" sz="2800" i="1"/>
              <a:t>(kombinace tiskárny scanneru, kopírky, faxu, čtečky paměťových karet….)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29C3A44C-3D60-978C-E953-CD60BF73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419B-8BD4-45F8-9C8F-84449E2B790B}" type="slidenum">
              <a:rPr lang="cs-CZ" altLang="en-US"/>
              <a:pPr/>
              <a:t>5</a:t>
            </a:fld>
            <a:endParaRPr lang="cs-CZ" altLang="en-US"/>
          </a:p>
        </p:txBody>
      </p:sp>
      <p:sp>
        <p:nvSpPr>
          <p:cNvPr id="203778" name="Rectangle 2">
            <a:extLst>
              <a:ext uri="{FF2B5EF4-FFF2-40B4-BE49-F238E27FC236}">
                <a16:creationId xmlns:a16="http://schemas.microsoft.com/office/drawing/2014/main" id="{A0D80BBF-90E7-A799-5656-D0AD179074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Scannery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D69AEE25-3C3B-7171-AC27-B0DD505C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b="1"/>
              <a:t>Princip skeneru:</a:t>
            </a:r>
            <a:r>
              <a:rPr lang="cs-CZ" altLang="cs-CZ"/>
              <a:t> </a:t>
            </a:r>
          </a:p>
          <a:p>
            <a:pPr lvl="1"/>
            <a:r>
              <a:rPr lang="cs-CZ" altLang="cs-CZ" sz="2800"/>
              <a:t>Snímaná předloha je postupně nasvěcována a odražené světlo je v snímacím prvku přeměněno na elektrické signály - data.</a:t>
            </a:r>
          </a:p>
          <a:p>
            <a:pPr lvl="1"/>
            <a:r>
              <a:rPr lang="cs-CZ" altLang="cs-CZ" sz="2800"/>
              <a:t>Počítač data zpracuje a převádí je do formátu, se kterým umějí pracovat grafické programy.</a:t>
            </a:r>
          </a:p>
          <a:p>
            <a:r>
              <a:rPr lang="cs-CZ" altLang="cs-CZ"/>
              <a:t>Podle technologie snímání lze scannery  rozdělit na: </a:t>
            </a:r>
            <a:r>
              <a:rPr lang="cs-CZ" altLang="cs-CZ" b="1">
                <a:solidFill>
                  <a:schemeClr val="accent2"/>
                </a:solidFill>
              </a:rPr>
              <a:t>CCD</a:t>
            </a:r>
            <a:r>
              <a:rPr lang="cs-CZ" altLang="cs-CZ"/>
              <a:t> a </a:t>
            </a:r>
            <a:r>
              <a:rPr lang="cs-CZ" altLang="cs-CZ" b="1">
                <a:solidFill>
                  <a:schemeClr val="accent2"/>
                </a:solidFill>
              </a:rPr>
              <a:t>CIS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3DEDC541-148C-352C-1035-E593AD5F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54C0-34F2-4CEE-B1FE-B04F4CE93B69}" type="slidenum">
              <a:rPr lang="cs-CZ" altLang="en-US"/>
              <a:pPr/>
              <a:t>6</a:t>
            </a:fld>
            <a:endParaRPr lang="cs-CZ" altLang="en-US"/>
          </a:p>
        </p:txBody>
      </p:sp>
      <p:sp>
        <p:nvSpPr>
          <p:cNvPr id="204802" name="Rectangle 2">
            <a:extLst>
              <a:ext uri="{FF2B5EF4-FFF2-40B4-BE49-F238E27FC236}">
                <a16:creationId xmlns:a16="http://schemas.microsoft.com/office/drawing/2014/main" id="{7EC58CA6-F04B-16E0-6903-EB42AD9B69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Scannery </a:t>
            </a: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BBB9204D-8E7E-97B2-4971-465B7E93D5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b="1">
                <a:solidFill>
                  <a:schemeClr val="accent2"/>
                </a:solidFill>
              </a:rPr>
              <a:t>CCD (Charge Coupled Device):</a:t>
            </a:r>
            <a:r>
              <a:rPr lang="cs-CZ" altLang="cs-CZ"/>
              <a:t> </a:t>
            </a:r>
          </a:p>
          <a:p>
            <a:pPr lvl="1"/>
            <a:r>
              <a:rPr lang="cs-CZ" altLang="cs-CZ" sz="3000"/>
              <a:t>skener osazen CCD polovodičovým světlo-citlivým čipem a světlo je dodáváno zářivkou, světlo se přenáší pomocí čoček a zrcadel. </a:t>
            </a:r>
          </a:p>
          <a:p>
            <a:pPr lvl="1"/>
            <a:r>
              <a:rPr lang="cs-CZ" altLang="cs-CZ" sz="3000"/>
              <a:t>Před skenováním se musí lampa nahřát na správnou teplotu což trvá kolem 30 vteřin.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3896A6A-3B5D-30F1-5A37-EC6FA7F1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671F-2179-4CE5-A742-60CFF02CE580}" type="slidenum">
              <a:rPr lang="cs-CZ" altLang="en-US"/>
              <a:pPr/>
              <a:t>7</a:t>
            </a:fld>
            <a:endParaRPr lang="cs-CZ" altLang="en-US"/>
          </a:p>
        </p:txBody>
      </p:sp>
      <p:sp>
        <p:nvSpPr>
          <p:cNvPr id="205826" name="Rectangle 2">
            <a:extLst>
              <a:ext uri="{FF2B5EF4-FFF2-40B4-BE49-F238E27FC236}">
                <a16:creationId xmlns:a16="http://schemas.microsoft.com/office/drawing/2014/main" id="{971F5EBA-E702-2C4A-E974-67A79156C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Scannery </a:t>
            </a:r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44C8AFC7-50E5-4EEB-F44A-3A23BE3C1F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b="1">
                <a:solidFill>
                  <a:schemeClr val="accent2"/>
                </a:solidFill>
              </a:rPr>
              <a:t>CIS (Contact Image Senzor):</a:t>
            </a:r>
            <a:r>
              <a:rPr lang="cs-CZ" altLang="cs-CZ"/>
              <a:t> </a:t>
            </a:r>
          </a:p>
          <a:p>
            <a:pPr lvl="1"/>
            <a:r>
              <a:rPr lang="cs-CZ" altLang="cs-CZ" sz="3000"/>
              <a:t>předloha je nasvěcována třemi řadami barevných LED diod umístěných přímo u senzoru na čtecí hlavě. </a:t>
            </a:r>
          </a:p>
          <a:p>
            <a:pPr lvl="1"/>
            <a:r>
              <a:rPr lang="cs-CZ" altLang="cs-CZ" sz="3000"/>
              <a:t>Toto řešení je výrazně levnější, lehčí, menší, ale dosahuje horších výsledků a neumožňuje snímání transparentních předloh. </a:t>
            </a:r>
          </a:p>
          <a:p>
            <a:endParaRPr lang="cs-CZ" altLang="cs-CZ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68AF70D2-AC9A-049D-59E4-F591893B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CEA9-1910-416D-A358-1745A476BAB9}" type="slidenum">
              <a:rPr lang="cs-CZ" altLang="en-US"/>
              <a:pPr/>
              <a:t>8</a:t>
            </a:fld>
            <a:endParaRPr lang="cs-CZ" altLang="en-US"/>
          </a:p>
        </p:txBody>
      </p:sp>
      <p:sp>
        <p:nvSpPr>
          <p:cNvPr id="208898" name="Rectangle 2">
            <a:extLst>
              <a:ext uri="{FF2B5EF4-FFF2-40B4-BE49-F238E27FC236}">
                <a16:creationId xmlns:a16="http://schemas.microsoft.com/office/drawing/2014/main" id="{A5CCC13E-DFBB-5918-71E2-7640571BE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Vlastnosti scannerů</a:t>
            </a:r>
          </a:p>
        </p:txBody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9EDB02E0-9330-BC2D-AD9F-2DF68F4BBF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 b="1"/>
              <a:t>Rozlišení</a:t>
            </a:r>
            <a:r>
              <a:rPr lang="cs-CZ" altLang="cs-CZ"/>
              <a:t> </a:t>
            </a:r>
          </a:p>
          <a:p>
            <a:pPr lvl="1">
              <a:lnSpc>
                <a:spcPct val="90000"/>
              </a:lnSpc>
            </a:pPr>
            <a:r>
              <a:rPr lang="cs-CZ" altLang="cs-CZ" sz="3000"/>
              <a:t>udává se v DPI </a:t>
            </a:r>
          </a:p>
          <a:p>
            <a:pPr lvl="1">
              <a:lnSpc>
                <a:spcPct val="90000"/>
              </a:lnSpc>
            </a:pPr>
            <a:r>
              <a:rPr lang="cs-CZ" altLang="cs-CZ" sz="3000"/>
              <a:t>určuje jak podrobně je skener daný obraz schopen snímat </a:t>
            </a:r>
          </a:p>
          <a:p>
            <a:pPr lvl="1">
              <a:lnSpc>
                <a:spcPct val="90000"/>
              </a:lnSpc>
            </a:pPr>
            <a:r>
              <a:rPr lang="cs-CZ" altLang="cs-CZ" sz="3000" b="1">
                <a:solidFill>
                  <a:schemeClr val="accent2"/>
                </a:solidFill>
              </a:rPr>
              <a:t>Rozlišení</a:t>
            </a:r>
            <a:r>
              <a:rPr lang="cs-CZ" altLang="cs-CZ" sz="3000">
                <a:solidFill>
                  <a:schemeClr val="accent2"/>
                </a:solidFill>
              </a:rPr>
              <a:t> </a:t>
            </a:r>
            <a:r>
              <a:rPr lang="cs-CZ" altLang="cs-CZ" sz="3000" b="1">
                <a:solidFill>
                  <a:schemeClr val="accent2"/>
                </a:solidFill>
              </a:rPr>
              <a:t>optické</a:t>
            </a:r>
            <a:r>
              <a:rPr lang="cs-CZ" altLang="cs-CZ" sz="3000"/>
              <a:t> udává jaké rozlišení skener hardwarově zvládá. </a:t>
            </a:r>
            <a:r>
              <a:rPr lang="cs-CZ" altLang="cs-CZ" sz="3000">
                <a:solidFill>
                  <a:schemeClr val="bg2"/>
                </a:solidFill>
              </a:rPr>
              <a:t>(600dpi)</a:t>
            </a:r>
          </a:p>
          <a:p>
            <a:pPr lvl="1">
              <a:lnSpc>
                <a:spcPct val="90000"/>
              </a:lnSpc>
            </a:pPr>
            <a:r>
              <a:rPr lang="cs-CZ" altLang="cs-CZ" sz="3000" b="1">
                <a:solidFill>
                  <a:schemeClr val="accent2"/>
                </a:solidFill>
              </a:rPr>
              <a:t>Rozlišení</a:t>
            </a:r>
            <a:r>
              <a:rPr lang="cs-CZ" altLang="cs-CZ" sz="3000">
                <a:solidFill>
                  <a:schemeClr val="accent2"/>
                </a:solidFill>
              </a:rPr>
              <a:t> </a:t>
            </a:r>
            <a:r>
              <a:rPr lang="cs-CZ" altLang="cs-CZ" sz="3000" b="1">
                <a:solidFill>
                  <a:schemeClr val="accent2"/>
                </a:solidFill>
              </a:rPr>
              <a:t>interpolované</a:t>
            </a:r>
            <a:r>
              <a:rPr lang="cs-CZ" altLang="cs-CZ" sz="3000"/>
              <a:t> je rozlišení, kdy si skener část bodů dopočítá podle okolních bodů. </a:t>
            </a:r>
            <a:r>
              <a:rPr lang="cs-CZ" altLang="cs-CZ" sz="3000">
                <a:solidFill>
                  <a:schemeClr val="bg2"/>
                </a:solidFill>
              </a:rPr>
              <a:t>(9600dpi)</a:t>
            </a:r>
          </a:p>
          <a:p>
            <a:pPr>
              <a:lnSpc>
                <a:spcPct val="90000"/>
              </a:lnSpc>
            </a:pPr>
            <a:endParaRPr lang="cs-CZ" altLang="cs-CZ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F3716CB9-01B1-252D-1DCB-1B86322A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3330B-FBD7-4670-926A-699DD37DDFA5}" type="slidenum">
              <a:rPr lang="cs-CZ" altLang="en-US"/>
              <a:pPr/>
              <a:t>9</a:t>
            </a:fld>
            <a:endParaRPr lang="cs-CZ" altLang="en-US"/>
          </a:p>
        </p:txBody>
      </p:sp>
      <p:sp>
        <p:nvSpPr>
          <p:cNvPr id="209922" name="Rectangle 2">
            <a:extLst>
              <a:ext uri="{FF2B5EF4-FFF2-40B4-BE49-F238E27FC236}">
                <a16:creationId xmlns:a16="http://schemas.microsoft.com/office/drawing/2014/main" id="{234BCFA3-8777-F742-F0A1-AAC6F7E9AF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Vlastnosti scannerů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2E767D24-945B-9AC6-95FA-4BD87EDFD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b="1"/>
              <a:t>Barevná hloubka:</a:t>
            </a:r>
          </a:p>
          <a:p>
            <a:pPr lvl="1"/>
            <a:r>
              <a:rPr lang="cs-CZ" altLang="cs-CZ" sz="3000"/>
              <a:t>černobílé scannery: 256 odstínů šedi</a:t>
            </a:r>
          </a:p>
          <a:p>
            <a:pPr lvl="1"/>
            <a:r>
              <a:rPr lang="cs-CZ" altLang="cs-CZ" sz="3000"/>
              <a:t>barevné scannery: až 48 bitů</a:t>
            </a:r>
          </a:p>
          <a:p>
            <a:endParaRPr lang="cs-CZ" altLang="cs-CZ" b="1"/>
          </a:p>
          <a:p>
            <a:r>
              <a:rPr lang="cs-CZ" altLang="cs-CZ" b="1"/>
              <a:t>OCR </a:t>
            </a:r>
            <a:r>
              <a:rPr lang="cs-CZ" altLang="cs-CZ"/>
              <a:t>programy pro rozpoznávání textu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5B99B8C3-3381-4091-CF1B-EDD8EA222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40EB4-1C29-466D-8AA0-0913CEE0C0F2}" type="slidenum">
              <a:rPr lang="cs-CZ" altLang="en-US"/>
              <a:pPr/>
              <a:t>10</a:t>
            </a:fld>
            <a:endParaRPr lang="cs-CZ" altLang="en-US"/>
          </a:p>
        </p:txBody>
      </p:sp>
      <p:sp>
        <p:nvSpPr>
          <p:cNvPr id="210946" name="Rectangle 2">
            <a:extLst>
              <a:ext uri="{FF2B5EF4-FFF2-40B4-BE49-F238E27FC236}">
                <a16:creationId xmlns:a16="http://schemas.microsoft.com/office/drawing/2014/main" id="{8C99AC14-7232-B902-38FF-835B184ED4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Skenování</a:t>
            </a:r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8AFCD065-1441-8088-5AA0-13A1DDAC6A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sz="3200"/>
              <a:t>Komunikace počítače se scannerem:</a:t>
            </a:r>
          </a:p>
          <a:p>
            <a:pPr lvl="1"/>
            <a:r>
              <a:rPr lang="cs-CZ" altLang="cs-CZ" sz="3200"/>
              <a:t>Pomocí speciálního software dodaného výrobcem scanneru </a:t>
            </a:r>
            <a:r>
              <a:rPr lang="cs-CZ" altLang="cs-CZ" sz="2800">
                <a:solidFill>
                  <a:schemeClr val="bg2"/>
                </a:solidFill>
              </a:rPr>
              <a:t>(hlavně starší scannery).</a:t>
            </a:r>
          </a:p>
          <a:p>
            <a:pPr lvl="1"/>
            <a:r>
              <a:rPr lang="cs-CZ" altLang="cs-CZ" sz="3200"/>
              <a:t>Pomocí rozhraní </a:t>
            </a:r>
            <a:r>
              <a:rPr lang="cs-CZ" altLang="cs-CZ" sz="3200" b="1">
                <a:solidFill>
                  <a:srgbClr val="FF0000"/>
                </a:solidFill>
              </a:rPr>
              <a:t>TWAIN</a:t>
            </a:r>
            <a:r>
              <a:rPr lang="cs-CZ" altLang="cs-CZ" sz="3200"/>
              <a:t> – standardní komunikační rozhraní pro připojení scannerů či digitálních fotoaparátů.</a:t>
            </a:r>
            <a:br>
              <a:rPr lang="cs-CZ" altLang="cs-CZ" sz="3200"/>
            </a:br>
            <a:endParaRPr lang="cs-CZ" altLang="cs-CZ"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1C7F4929-2CD1-BA6E-968B-D774760FC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5B0B-CD90-41DC-93F7-B3711FF4EAD7}" type="slidenum">
              <a:rPr lang="cs-CZ" altLang="en-US"/>
              <a:pPr/>
              <a:t>11</a:t>
            </a:fld>
            <a:endParaRPr lang="cs-CZ" altLang="en-US"/>
          </a:p>
        </p:txBody>
      </p:sp>
      <p:sp>
        <p:nvSpPr>
          <p:cNvPr id="211970" name="Rectangle 2">
            <a:extLst>
              <a:ext uri="{FF2B5EF4-FFF2-40B4-BE49-F238E27FC236}">
                <a16:creationId xmlns:a16="http://schemas.microsoft.com/office/drawing/2014/main" id="{E749B97C-3F18-3BA0-AEAE-F6C06D432D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Skenování </a:t>
            </a: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43631A29-5896-2EA4-E359-4517EBB792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 sz="3200" b="1">
                <a:solidFill>
                  <a:schemeClr val="accent2"/>
                </a:solidFill>
              </a:rPr>
              <a:t>Speciální software:</a:t>
            </a:r>
            <a:r>
              <a:rPr lang="cs-CZ" altLang="cs-CZ" sz="3200"/>
              <a:t> </a:t>
            </a:r>
          </a:p>
          <a:p>
            <a:pPr lvl="1">
              <a:lnSpc>
                <a:spcPct val="90000"/>
              </a:lnSpc>
            </a:pPr>
            <a:r>
              <a:rPr lang="cs-CZ" altLang="cs-CZ" sz="3200"/>
              <a:t>jeho součástí je ovladač ke scanneru a program pro práci se scannovaným dokumentem</a:t>
            </a:r>
          </a:p>
          <a:p>
            <a:pPr lvl="1">
              <a:lnSpc>
                <a:spcPct val="90000"/>
              </a:lnSpc>
            </a:pPr>
            <a:r>
              <a:rPr lang="cs-CZ" altLang="cs-CZ" sz="3200"/>
              <a:t>výhoda: větší možnosti scannování, více funkcí pro získání požadovaného obrázku ..</a:t>
            </a:r>
          </a:p>
          <a:p>
            <a:pPr lvl="1">
              <a:lnSpc>
                <a:spcPct val="90000"/>
              </a:lnSpc>
            </a:pPr>
            <a:r>
              <a:rPr lang="cs-CZ" altLang="cs-CZ" sz="3200"/>
              <a:t>nevýhoda: je vhodný pouze pro konkrétní typ scanneru </a:t>
            </a:r>
            <a:endParaRPr lang="cs-CZ" altLang="cs-CZ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02899516-0A25-381A-50E8-7D4D3A8C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7F87-984F-4D79-B510-529FF560BAE5}" type="slidenum">
              <a:rPr lang="cs-CZ" altLang="en-US"/>
              <a:pPr/>
              <a:t>12</a:t>
            </a:fld>
            <a:endParaRPr lang="cs-CZ" altLang="en-US"/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EF20122F-7586-E55D-7FE3-29C774916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sz="4000"/>
              <a:t>Speciální software:</a:t>
            </a:r>
          </a:p>
        </p:txBody>
      </p:sp>
      <p:pic>
        <p:nvPicPr>
          <p:cNvPr id="212998" name="Picture 6">
            <a:extLst>
              <a:ext uri="{FF2B5EF4-FFF2-40B4-BE49-F238E27FC236}">
                <a16:creationId xmlns:a16="http://schemas.microsoft.com/office/drawing/2014/main" id="{64F5C8ED-49E6-2721-5A92-7245F8396E8F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1050" y="1484313"/>
            <a:ext cx="5073650" cy="5184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65176458-06A4-D704-5326-28AA1011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BB20F-9D01-4E99-85BB-E45F950954CB}" type="slidenum">
              <a:rPr lang="cs-CZ" altLang="en-US"/>
              <a:pPr/>
              <a:t>13</a:t>
            </a:fld>
            <a:endParaRPr lang="cs-CZ" altLang="en-US"/>
          </a:p>
        </p:txBody>
      </p:sp>
      <p:sp>
        <p:nvSpPr>
          <p:cNvPr id="215042" name="Rectangle 2">
            <a:extLst>
              <a:ext uri="{FF2B5EF4-FFF2-40B4-BE49-F238E27FC236}">
                <a16:creationId xmlns:a16="http://schemas.microsoft.com/office/drawing/2014/main" id="{A58A8579-63AE-2183-7118-FF59975967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sz="4000"/>
              <a:t>Speciální software:</a:t>
            </a:r>
          </a:p>
        </p:txBody>
      </p:sp>
      <p:pic>
        <p:nvPicPr>
          <p:cNvPr id="215045" name="Picture 5">
            <a:extLst>
              <a:ext uri="{FF2B5EF4-FFF2-40B4-BE49-F238E27FC236}">
                <a16:creationId xmlns:a16="http://schemas.microsoft.com/office/drawing/2014/main" id="{E33B7E24-236B-D360-EAFB-814D689DFFAC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484313"/>
            <a:ext cx="7632700" cy="51450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1179B281-3D82-0E80-80A7-EAE79ADF1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FF102-01EB-4AE7-A5BE-3EBDBAC0818E}" type="slidenum">
              <a:rPr lang="cs-CZ" altLang="en-US"/>
              <a:pPr/>
              <a:t>14</a:t>
            </a:fld>
            <a:endParaRPr lang="cs-CZ" altLang="en-US"/>
          </a:p>
        </p:txBody>
      </p:sp>
      <p:sp>
        <p:nvSpPr>
          <p:cNvPr id="216066" name="Rectangle 2">
            <a:extLst>
              <a:ext uri="{FF2B5EF4-FFF2-40B4-BE49-F238E27FC236}">
                <a16:creationId xmlns:a16="http://schemas.microsoft.com/office/drawing/2014/main" id="{0D403E7B-43D4-2AB6-F461-09A33B4879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Skenování </a:t>
            </a: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37E004CD-E73D-BFDA-C131-F3939300F8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49688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 sz="2800" b="1">
                <a:solidFill>
                  <a:schemeClr val="accent2"/>
                </a:solidFill>
              </a:rPr>
              <a:t>Rozhraní Twain:</a:t>
            </a:r>
          </a:p>
          <a:p>
            <a:pPr lvl="1">
              <a:lnSpc>
                <a:spcPct val="90000"/>
              </a:lnSpc>
            </a:pPr>
            <a:r>
              <a:rPr lang="cs-CZ" altLang="cs-CZ" sz="2800"/>
              <a:t>Pokud scanner (a ovladače) podporují rozhraní Twain, lze scanner ovládat ze všech aplikací, které umí pracovat s obrázky </a:t>
            </a:r>
            <a:r>
              <a:rPr lang="cs-CZ" altLang="cs-CZ">
                <a:solidFill>
                  <a:schemeClr val="bg2"/>
                </a:solidFill>
              </a:rPr>
              <a:t>(a podporují rozhraní Twain).</a:t>
            </a:r>
          </a:p>
          <a:p>
            <a:pPr lvl="1">
              <a:lnSpc>
                <a:spcPct val="90000"/>
              </a:lnSpc>
            </a:pPr>
            <a:r>
              <a:rPr lang="cs-CZ" altLang="cs-CZ" sz="2800"/>
              <a:t>Součástí Windows je jednoduchý univerzální program pro komunikaci se scannerem, jednotný pro všechny aplikace, pro všechny typy scannerů. </a:t>
            </a:r>
            <a:br>
              <a:rPr lang="cs-CZ" altLang="cs-CZ" sz="2800"/>
            </a:br>
            <a:r>
              <a:rPr lang="cs-CZ" altLang="cs-CZ" sz="2800">
                <a:solidFill>
                  <a:schemeClr val="bg2"/>
                </a:solidFill>
              </a:rPr>
              <a:t>(</a:t>
            </a:r>
            <a:r>
              <a:rPr lang="cs-CZ" altLang="cs-CZ">
                <a:solidFill>
                  <a:schemeClr val="bg2"/>
                </a:solidFill>
              </a:rPr>
              <a:t>Pokud je k dispozici, může se samozřejmě využívat i speciální sw sladěný s konkrétním typem scanneru)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147" name="Picture 11">
            <a:extLst>
              <a:ext uri="{FF2B5EF4-FFF2-40B4-BE49-F238E27FC236}">
                <a16:creationId xmlns:a16="http://schemas.microsoft.com/office/drawing/2014/main" id="{86181967-1AA8-AF0B-66A2-D7934586806C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63938" y="573088"/>
            <a:ext cx="5329237" cy="52911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9138" name="Rectangle 2">
            <a:extLst>
              <a:ext uri="{FF2B5EF4-FFF2-40B4-BE49-F238E27FC236}">
                <a16:creationId xmlns:a16="http://schemas.microsoft.com/office/drawing/2014/main" id="{ED79BA04-6BCD-C72A-FAE9-D10FA22C33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Skenování </a:t>
            </a:r>
          </a:p>
        </p:txBody>
      </p:sp>
      <p:sp>
        <p:nvSpPr>
          <p:cNvPr id="219139" name="Rectangle 3">
            <a:extLst>
              <a:ext uri="{FF2B5EF4-FFF2-40B4-BE49-F238E27FC236}">
                <a16:creationId xmlns:a16="http://schemas.microsoft.com/office/drawing/2014/main" id="{D20D4153-FE4B-3949-B072-2F67CCF0D8D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412875"/>
            <a:ext cx="3887787" cy="576263"/>
          </a:xfrm>
        </p:spPr>
        <p:txBody>
          <a:bodyPr/>
          <a:lstStyle/>
          <a:p>
            <a:r>
              <a:rPr lang="cs-CZ" altLang="cs-CZ" sz="2800" b="1">
                <a:solidFill>
                  <a:schemeClr val="accent2"/>
                </a:solidFill>
              </a:rPr>
              <a:t>Dialog MS Office</a:t>
            </a:r>
          </a:p>
        </p:txBody>
      </p:sp>
      <p:pic>
        <p:nvPicPr>
          <p:cNvPr id="219145" name="Picture 9">
            <a:extLst>
              <a:ext uri="{FF2B5EF4-FFF2-40B4-BE49-F238E27FC236}">
                <a16:creationId xmlns:a16="http://schemas.microsoft.com/office/drawing/2014/main" id="{C8E3E42E-D42B-A332-6923-CAD0D63A620F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288" y="4005263"/>
            <a:ext cx="4608512" cy="24542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3" name="Rectangle 3">
            <a:extLst>
              <a:ext uri="{FF2B5EF4-FFF2-40B4-BE49-F238E27FC236}">
                <a16:creationId xmlns:a16="http://schemas.microsoft.com/office/drawing/2014/main" id="{91F8837C-2D15-D884-FE56-3ABB3256DC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Skenování </a:t>
            </a:r>
          </a:p>
        </p:txBody>
      </p:sp>
      <p:sp>
        <p:nvSpPr>
          <p:cNvPr id="220164" name="Rectangle 4">
            <a:extLst>
              <a:ext uri="{FF2B5EF4-FFF2-40B4-BE49-F238E27FC236}">
                <a16:creationId xmlns:a16="http://schemas.microsoft.com/office/drawing/2014/main" id="{A6CC605D-429E-0789-2273-FB160F9A95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412875"/>
            <a:ext cx="3887787" cy="576263"/>
          </a:xfrm>
        </p:spPr>
        <p:txBody>
          <a:bodyPr/>
          <a:lstStyle/>
          <a:p>
            <a:r>
              <a:rPr lang="cs-CZ" altLang="cs-CZ" sz="2800" b="1">
                <a:solidFill>
                  <a:schemeClr val="accent2"/>
                </a:solidFill>
              </a:rPr>
              <a:t>Dialog IrfanView</a:t>
            </a:r>
          </a:p>
        </p:txBody>
      </p:sp>
      <p:pic>
        <p:nvPicPr>
          <p:cNvPr id="220168" name="Picture 8">
            <a:extLst>
              <a:ext uri="{FF2B5EF4-FFF2-40B4-BE49-F238E27FC236}">
                <a16:creationId xmlns:a16="http://schemas.microsoft.com/office/drawing/2014/main" id="{898E0963-64E0-5FEF-21DF-FAE99721A137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14925" y="260350"/>
            <a:ext cx="3792538" cy="64087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0169" name="Picture 9">
            <a:extLst>
              <a:ext uri="{FF2B5EF4-FFF2-40B4-BE49-F238E27FC236}">
                <a16:creationId xmlns:a16="http://schemas.microsoft.com/office/drawing/2014/main" id="{6A4FB9B3-CEDB-61CA-B8DC-E8D446DA1025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2492375"/>
            <a:ext cx="4643437" cy="3711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5214D513-DED2-F2C7-105F-33D543F5B0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Skenování </a:t>
            </a:r>
          </a:p>
        </p:txBody>
      </p:sp>
      <p:sp>
        <p:nvSpPr>
          <p:cNvPr id="221187" name="Rectangle 3">
            <a:extLst>
              <a:ext uri="{FF2B5EF4-FFF2-40B4-BE49-F238E27FC236}">
                <a16:creationId xmlns:a16="http://schemas.microsoft.com/office/drawing/2014/main" id="{6ED049E7-1A47-F05F-6773-D07BE4F2D9C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412875"/>
            <a:ext cx="3887787" cy="576263"/>
          </a:xfrm>
        </p:spPr>
        <p:txBody>
          <a:bodyPr/>
          <a:lstStyle/>
          <a:p>
            <a:r>
              <a:rPr lang="cs-CZ" altLang="cs-CZ" sz="2800" b="1">
                <a:solidFill>
                  <a:schemeClr val="accent2"/>
                </a:solidFill>
              </a:rPr>
              <a:t>Dialog Gimp</a:t>
            </a:r>
          </a:p>
        </p:txBody>
      </p:sp>
      <p:pic>
        <p:nvPicPr>
          <p:cNvPr id="221192" name="Picture 8">
            <a:extLst>
              <a:ext uri="{FF2B5EF4-FFF2-40B4-BE49-F238E27FC236}">
                <a16:creationId xmlns:a16="http://schemas.microsoft.com/office/drawing/2014/main" id="{E98078CF-6CDB-FEF1-3CB6-C5742796ED1A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2492375"/>
            <a:ext cx="5113338" cy="36623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1193" name="Picture 9">
            <a:extLst>
              <a:ext uri="{FF2B5EF4-FFF2-40B4-BE49-F238E27FC236}">
                <a16:creationId xmlns:a16="http://schemas.microsoft.com/office/drawing/2014/main" id="{C2778233-158F-54E0-DB47-BAA1ADCF7573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56100" y="1412875"/>
            <a:ext cx="4319588" cy="2381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>
            <a:extLst>
              <a:ext uri="{FF2B5EF4-FFF2-40B4-BE49-F238E27FC236}">
                <a16:creationId xmlns:a16="http://schemas.microsoft.com/office/drawing/2014/main" id="{4AFD0F03-EFA5-A8EB-1D36-3BD505A63E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Skenování </a:t>
            </a:r>
          </a:p>
        </p:txBody>
      </p:sp>
      <p:sp>
        <p:nvSpPr>
          <p:cNvPr id="217092" name="Rectangle 4">
            <a:extLst>
              <a:ext uri="{FF2B5EF4-FFF2-40B4-BE49-F238E27FC236}">
                <a16:creationId xmlns:a16="http://schemas.microsoft.com/office/drawing/2014/main" id="{ED07D4E4-7284-10FE-C0DF-44AA0BA24C0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412875"/>
            <a:ext cx="4752975" cy="576263"/>
          </a:xfrm>
        </p:spPr>
        <p:txBody>
          <a:bodyPr/>
          <a:lstStyle/>
          <a:p>
            <a:r>
              <a:rPr lang="cs-CZ" altLang="cs-CZ" sz="2800" b="1">
                <a:solidFill>
                  <a:schemeClr val="accent2"/>
                </a:solidFill>
              </a:rPr>
              <a:t>Standardní sw Windows</a:t>
            </a:r>
          </a:p>
        </p:txBody>
      </p:sp>
      <p:pic>
        <p:nvPicPr>
          <p:cNvPr id="217095" name="Picture 7">
            <a:extLst>
              <a:ext uri="{FF2B5EF4-FFF2-40B4-BE49-F238E27FC236}">
                <a16:creationId xmlns:a16="http://schemas.microsoft.com/office/drawing/2014/main" id="{666C2619-DE72-9308-CD75-B99A47B3BA4E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2205038"/>
            <a:ext cx="5905500" cy="43751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7096" name="Picture 8">
            <a:extLst>
              <a:ext uri="{FF2B5EF4-FFF2-40B4-BE49-F238E27FC236}">
                <a16:creationId xmlns:a16="http://schemas.microsoft.com/office/drawing/2014/main" id="{C293FBA4-2F0D-E560-197A-9360A22F17C8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2363" y="476250"/>
            <a:ext cx="3922712" cy="36544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7097" name="Text Box 9">
            <a:extLst>
              <a:ext uri="{FF2B5EF4-FFF2-40B4-BE49-F238E27FC236}">
                <a16:creationId xmlns:a16="http://schemas.microsoft.com/office/drawing/2014/main" id="{F9C8CE78-5469-806C-0583-13A0893BF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4437063"/>
            <a:ext cx="244792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/>
              <a:t>Tento dialog se vyvolá požadavkem </a:t>
            </a:r>
            <a:br>
              <a:rPr lang="cs-CZ" altLang="cs-CZ" sz="2400"/>
            </a:br>
            <a:r>
              <a:rPr lang="cs-CZ" altLang="cs-CZ" sz="2400"/>
              <a:t>na skenování </a:t>
            </a:r>
            <a:br>
              <a:rPr lang="cs-CZ" altLang="cs-CZ" sz="2400"/>
            </a:br>
            <a:r>
              <a:rPr lang="cs-CZ" altLang="cs-CZ" sz="2400"/>
              <a:t>z aplikace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215" name="Picture 7">
            <a:extLst>
              <a:ext uri="{FF2B5EF4-FFF2-40B4-BE49-F238E27FC236}">
                <a16:creationId xmlns:a16="http://schemas.microsoft.com/office/drawing/2014/main" id="{A58EAB43-097B-880A-C03A-426D3200D326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196975"/>
            <a:ext cx="2555875" cy="4411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2216" name="Picture 8">
            <a:extLst>
              <a:ext uri="{FF2B5EF4-FFF2-40B4-BE49-F238E27FC236}">
                <a16:creationId xmlns:a16="http://schemas.microsoft.com/office/drawing/2014/main" id="{EFCD72AC-5FC7-A194-5BA3-81C597487188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9475" y="1196975"/>
            <a:ext cx="2506663" cy="4411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2217" name="Text Box 9">
            <a:extLst>
              <a:ext uri="{FF2B5EF4-FFF2-40B4-BE49-F238E27FC236}">
                <a16:creationId xmlns:a16="http://schemas.microsoft.com/office/drawing/2014/main" id="{CFD9282F-CE59-0AD9-D563-C446BA5FF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588000"/>
            <a:ext cx="26638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 b="1">
                <a:solidFill>
                  <a:srgbClr val="0000FF"/>
                </a:solidFill>
              </a:rPr>
              <a:t>600dpi – barevný </a:t>
            </a:r>
            <a:br>
              <a:rPr lang="cs-CZ" altLang="cs-CZ" sz="2400" b="1">
                <a:solidFill>
                  <a:srgbClr val="0000FF"/>
                </a:solidFill>
              </a:rPr>
            </a:br>
            <a:r>
              <a:rPr lang="cs-CZ" altLang="cs-CZ" sz="2400" b="1">
                <a:solidFill>
                  <a:srgbClr val="0000FF"/>
                </a:solidFill>
              </a:rPr>
              <a:t>1427KB</a:t>
            </a:r>
          </a:p>
        </p:txBody>
      </p:sp>
      <p:sp>
        <p:nvSpPr>
          <p:cNvPr id="222220" name="Text Box 12">
            <a:extLst>
              <a:ext uri="{FF2B5EF4-FFF2-40B4-BE49-F238E27FC236}">
                <a16:creationId xmlns:a16="http://schemas.microsoft.com/office/drawing/2014/main" id="{5F3800E0-B90A-61D8-0600-A1A6793AF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5661025"/>
            <a:ext cx="26638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 b="1">
                <a:solidFill>
                  <a:srgbClr val="0000FF"/>
                </a:solidFill>
              </a:rPr>
              <a:t>300dpi – barevný</a:t>
            </a:r>
            <a:br>
              <a:rPr lang="cs-CZ" altLang="cs-CZ" sz="2400" b="1">
                <a:solidFill>
                  <a:srgbClr val="0000FF"/>
                </a:solidFill>
              </a:rPr>
            </a:br>
            <a:r>
              <a:rPr lang="cs-CZ" altLang="cs-CZ" sz="2400" b="1">
                <a:solidFill>
                  <a:srgbClr val="0000FF"/>
                </a:solidFill>
              </a:rPr>
              <a:t>417KB</a:t>
            </a:r>
          </a:p>
        </p:txBody>
      </p:sp>
      <p:pic>
        <p:nvPicPr>
          <p:cNvPr id="222223" name="Picture 15">
            <a:extLst>
              <a:ext uri="{FF2B5EF4-FFF2-40B4-BE49-F238E27FC236}">
                <a16:creationId xmlns:a16="http://schemas.microsoft.com/office/drawing/2014/main" id="{290FC573-3FDB-6FBC-28BC-E96EF5B22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196975"/>
            <a:ext cx="2544762" cy="439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2224" name="Text Box 16">
            <a:extLst>
              <a:ext uri="{FF2B5EF4-FFF2-40B4-BE49-F238E27FC236}">
                <a16:creationId xmlns:a16="http://schemas.microsoft.com/office/drawing/2014/main" id="{AAE13C31-AEB2-AE0C-7082-95DD4A243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5661025"/>
            <a:ext cx="26638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 b="1">
                <a:solidFill>
                  <a:srgbClr val="0000FF"/>
                </a:solidFill>
              </a:rPr>
              <a:t>150dpi – barevný</a:t>
            </a:r>
            <a:br>
              <a:rPr lang="cs-CZ" altLang="cs-CZ" sz="2400" b="1">
                <a:solidFill>
                  <a:srgbClr val="0000FF"/>
                </a:solidFill>
              </a:rPr>
            </a:br>
            <a:r>
              <a:rPr lang="cs-CZ" altLang="cs-CZ" sz="2400" b="1">
                <a:solidFill>
                  <a:srgbClr val="0000FF"/>
                </a:solidFill>
              </a:rPr>
              <a:t>132KB</a:t>
            </a:r>
          </a:p>
        </p:txBody>
      </p:sp>
      <p:sp>
        <p:nvSpPr>
          <p:cNvPr id="222225" name="Text Box 17">
            <a:extLst>
              <a:ext uri="{FF2B5EF4-FFF2-40B4-BE49-F238E27FC236}">
                <a16:creationId xmlns:a16="http://schemas.microsoft.com/office/drawing/2014/main" id="{E0FDC7B5-7A81-3203-016B-0D43EF6CF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04813"/>
            <a:ext cx="69135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3200" b="1">
                <a:solidFill>
                  <a:schemeClr val="tx2"/>
                </a:solidFill>
              </a:rPr>
              <a:t>Ukázky naskenovaných obrázků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4" name="Text Box 4">
            <a:extLst>
              <a:ext uri="{FF2B5EF4-FFF2-40B4-BE49-F238E27FC236}">
                <a16:creationId xmlns:a16="http://schemas.microsoft.com/office/drawing/2014/main" id="{049CEE82-D35F-EA2D-C285-48E9273E5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588000"/>
            <a:ext cx="27368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 b="1">
                <a:solidFill>
                  <a:srgbClr val="0000FF"/>
                </a:solidFill>
              </a:rPr>
              <a:t>150dpi – barevný</a:t>
            </a:r>
            <a:br>
              <a:rPr lang="cs-CZ" altLang="cs-CZ" sz="2400" b="1">
                <a:solidFill>
                  <a:srgbClr val="0000FF"/>
                </a:solidFill>
              </a:rPr>
            </a:br>
            <a:r>
              <a:rPr lang="cs-CZ" altLang="cs-CZ" sz="2400" b="1">
                <a:solidFill>
                  <a:srgbClr val="0000FF"/>
                </a:solidFill>
              </a:rPr>
              <a:t>132KB</a:t>
            </a:r>
          </a:p>
        </p:txBody>
      </p:sp>
      <p:sp>
        <p:nvSpPr>
          <p:cNvPr id="225285" name="Text Box 5">
            <a:extLst>
              <a:ext uri="{FF2B5EF4-FFF2-40B4-BE49-F238E27FC236}">
                <a16:creationId xmlns:a16="http://schemas.microsoft.com/office/drawing/2014/main" id="{AB8094A8-1782-D1DE-44A7-B8293614B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5661025"/>
            <a:ext cx="25923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 b="1">
                <a:solidFill>
                  <a:srgbClr val="0000FF"/>
                </a:solidFill>
              </a:rPr>
              <a:t>75dpi – barevný</a:t>
            </a:r>
            <a:br>
              <a:rPr lang="cs-CZ" altLang="cs-CZ" sz="2400" b="1">
                <a:solidFill>
                  <a:srgbClr val="0000FF"/>
                </a:solidFill>
              </a:rPr>
            </a:br>
            <a:r>
              <a:rPr lang="cs-CZ" altLang="cs-CZ" sz="2400" b="1">
                <a:solidFill>
                  <a:srgbClr val="0000FF"/>
                </a:solidFill>
              </a:rPr>
              <a:t>35KB</a:t>
            </a:r>
          </a:p>
        </p:txBody>
      </p:sp>
      <p:pic>
        <p:nvPicPr>
          <p:cNvPr id="225286" name="Picture 6">
            <a:extLst>
              <a:ext uri="{FF2B5EF4-FFF2-40B4-BE49-F238E27FC236}">
                <a16:creationId xmlns:a16="http://schemas.microsoft.com/office/drawing/2014/main" id="{096D7DF1-BCA6-AF43-0091-5B87894CA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196975"/>
            <a:ext cx="2544762" cy="439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287" name="Text Box 7">
            <a:extLst>
              <a:ext uri="{FF2B5EF4-FFF2-40B4-BE49-F238E27FC236}">
                <a16:creationId xmlns:a16="http://schemas.microsoft.com/office/drawing/2014/main" id="{203DA2F2-0375-5C41-C97D-9FA063118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5661025"/>
            <a:ext cx="259238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 b="1">
                <a:solidFill>
                  <a:srgbClr val="0000FF"/>
                </a:solidFill>
              </a:rPr>
              <a:t>300dpi – odstíny šedi - 375KB</a:t>
            </a:r>
          </a:p>
        </p:txBody>
      </p:sp>
      <p:pic>
        <p:nvPicPr>
          <p:cNvPr id="225290" name="Picture 10">
            <a:extLst>
              <a:ext uri="{FF2B5EF4-FFF2-40B4-BE49-F238E27FC236}">
                <a16:creationId xmlns:a16="http://schemas.microsoft.com/office/drawing/2014/main" id="{3EF4C2BD-998D-D6B0-B349-7D7501323760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48038" y="1196975"/>
            <a:ext cx="2514600" cy="4411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5291" name="Picture 11">
            <a:extLst>
              <a:ext uri="{FF2B5EF4-FFF2-40B4-BE49-F238E27FC236}">
                <a16:creationId xmlns:a16="http://schemas.microsoft.com/office/drawing/2014/main" id="{07E67F9F-B4BA-8014-EFFA-F9BB0872C5D3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27763" y="1196975"/>
            <a:ext cx="2519362" cy="4411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5292" name="Text Box 12">
            <a:extLst>
              <a:ext uri="{FF2B5EF4-FFF2-40B4-BE49-F238E27FC236}">
                <a16:creationId xmlns:a16="http://schemas.microsoft.com/office/drawing/2014/main" id="{A1BD6487-7032-73D5-9947-F352FF409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04813"/>
            <a:ext cx="66246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3200" b="1">
                <a:solidFill>
                  <a:schemeClr val="tx2"/>
                </a:solidFill>
              </a:rPr>
              <a:t>Ukázky naskenovaných obrázků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Text Box 2">
            <a:extLst>
              <a:ext uri="{FF2B5EF4-FFF2-40B4-BE49-F238E27FC236}">
                <a16:creationId xmlns:a16="http://schemas.microsoft.com/office/drawing/2014/main" id="{C6BFBD06-3C7E-3CC3-8864-65CDD989D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5805488"/>
            <a:ext cx="25923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cs-CZ" altLang="cs-CZ" sz="2400" b="1">
                <a:solidFill>
                  <a:srgbClr val="0000FF"/>
                </a:solidFill>
              </a:rPr>
              <a:t>150dpi - odstíny</a:t>
            </a:r>
          </a:p>
          <a:p>
            <a:r>
              <a:rPr lang="cs-CZ" altLang="cs-CZ" sz="2400" b="1">
                <a:solidFill>
                  <a:srgbClr val="0000FF"/>
                </a:solidFill>
              </a:rPr>
              <a:t>šedi 95KB</a:t>
            </a:r>
          </a:p>
        </p:txBody>
      </p:sp>
      <p:pic>
        <p:nvPicPr>
          <p:cNvPr id="226314" name="Picture 10">
            <a:extLst>
              <a:ext uri="{FF2B5EF4-FFF2-40B4-BE49-F238E27FC236}">
                <a16:creationId xmlns:a16="http://schemas.microsoft.com/office/drawing/2014/main" id="{B8CC0CA8-C38C-359A-06D7-FDD74E9645A2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1196975"/>
            <a:ext cx="2579688" cy="4535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6315" name="Picture 11">
            <a:extLst>
              <a:ext uri="{FF2B5EF4-FFF2-40B4-BE49-F238E27FC236}">
                <a16:creationId xmlns:a16="http://schemas.microsoft.com/office/drawing/2014/main" id="{8EF0473A-5154-94FA-9F18-2528463E1CB1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32138" y="1196975"/>
            <a:ext cx="2674937" cy="46085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6316" name="Text Box 12">
            <a:extLst>
              <a:ext uri="{FF2B5EF4-FFF2-40B4-BE49-F238E27FC236}">
                <a16:creationId xmlns:a16="http://schemas.microsoft.com/office/drawing/2014/main" id="{EDEE8DFE-5359-9D0B-2627-43EB770C6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805488"/>
            <a:ext cx="25923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cs-CZ" altLang="cs-CZ" sz="2400" b="1">
                <a:solidFill>
                  <a:srgbClr val="0000FF"/>
                </a:solidFill>
              </a:rPr>
              <a:t>75dpi - odstíny</a:t>
            </a:r>
          </a:p>
          <a:p>
            <a:r>
              <a:rPr lang="cs-CZ" altLang="cs-CZ" sz="2400" b="1">
                <a:solidFill>
                  <a:srgbClr val="0000FF"/>
                </a:solidFill>
              </a:rPr>
              <a:t>šedi 34KB</a:t>
            </a:r>
          </a:p>
        </p:txBody>
      </p:sp>
      <p:sp>
        <p:nvSpPr>
          <p:cNvPr id="226318" name="Text Box 14">
            <a:extLst>
              <a:ext uri="{FF2B5EF4-FFF2-40B4-BE49-F238E27FC236}">
                <a16:creationId xmlns:a16="http://schemas.microsoft.com/office/drawing/2014/main" id="{ECE58BDC-CBD3-F87C-B6DD-9F03DEDF6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5805488"/>
            <a:ext cx="27368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cs-CZ" altLang="cs-CZ" sz="2400" b="1">
                <a:solidFill>
                  <a:srgbClr val="0000FF"/>
                </a:solidFill>
              </a:rPr>
              <a:t>150dpi černobílá 19KB</a:t>
            </a:r>
          </a:p>
        </p:txBody>
      </p:sp>
      <p:pic>
        <p:nvPicPr>
          <p:cNvPr id="226319" name="Picture 15">
            <a:extLst>
              <a:ext uri="{FF2B5EF4-FFF2-40B4-BE49-F238E27FC236}">
                <a16:creationId xmlns:a16="http://schemas.microsoft.com/office/drawing/2014/main" id="{A11CBD24-4EDD-4F00-7AF2-8C72773EC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1196975"/>
            <a:ext cx="2806700" cy="467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6320" name="Text Box 16">
            <a:extLst>
              <a:ext uri="{FF2B5EF4-FFF2-40B4-BE49-F238E27FC236}">
                <a16:creationId xmlns:a16="http://schemas.microsoft.com/office/drawing/2014/main" id="{D090745E-B605-9934-3FFF-85411D8B9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04813"/>
            <a:ext cx="66246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3200" b="1">
                <a:solidFill>
                  <a:schemeClr val="tx2"/>
                </a:solidFill>
              </a:rPr>
              <a:t>Ukázky naskenovaných obrázků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Text Box 2">
            <a:extLst>
              <a:ext uri="{FF2B5EF4-FFF2-40B4-BE49-F238E27FC236}">
                <a16:creationId xmlns:a16="http://schemas.microsoft.com/office/drawing/2014/main" id="{86AA6E43-C4EB-C82A-88F7-6679BDB9A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357563"/>
            <a:ext cx="1871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cs-CZ" altLang="cs-CZ" sz="2400" b="1">
                <a:solidFill>
                  <a:srgbClr val="0000FF"/>
                </a:solidFill>
              </a:rPr>
              <a:t>bez úprav</a:t>
            </a:r>
          </a:p>
        </p:txBody>
      </p:sp>
      <p:sp>
        <p:nvSpPr>
          <p:cNvPr id="229381" name="Text Box 5">
            <a:extLst>
              <a:ext uri="{FF2B5EF4-FFF2-40B4-BE49-F238E27FC236}">
                <a16:creationId xmlns:a16="http://schemas.microsoft.com/office/drawing/2014/main" id="{9BE8D866-5568-A7F4-32A0-5861E5AFB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3213100"/>
            <a:ext cx="2016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cs-CZ" altLang="cs-CZ" sz="2400" b="1">
                <a:solidFill>
                  <a:srgbClr val="0000FF"/>
                </a:solidFill>
              </a:rPr>
              <a:t>přidaný jas</a:t>
            </a:r>
          </a:p>
        </p:txBody>
      </p:sp>
      <p:sp>
        <p:nvSpPr>
          <p:cNvPr id="229384" name="Text Box 8">
            <a:extLst>
              <a:ext uri="{FF2B5EF4-FFF2-40B4-BE49-F238E27FC236}">
                <a16:creationId xmlns:a16="http://schemas.microsoft.com/office/drawing/2014/main" id="{4A489638-76B7-DB96-F49C-18476DAA8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04813"/>
            <a:ext cx="66246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3200" b="1">
                <a:solidFill>
                  <a:schemeClr val="tx2"/>
                </a:solidFill>
              </a:rPr>
              <a:t>Ukázky naskenovaných obrázků</a:t>
            </a:r>
          </a:p>
        </p:txBody>
      </p:sp>
      <p:pic>
        <p:nvPicPr>
          <p:cNvPr id="229392" name="Picture 16">
            <a:extLst>
              <a:ext uri="{FF2B5EF4-FFF2-40B4-BE49-F238E27FC236}">
                <a16:creationId xmlns:a16="http://schemas.microsoft.com/office/drawing/2014/main" id="{D716DD1E-3B97-ADF3-1CEA-DC2F238BFBA6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6013" y="1196975"/>
            <a:ext cx="2597150" cy="2120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9393" name="Picture 17">
            <a:extLst>
              <a:ext uri="{FF2B5EF4-FFF2-40B4-BE49-F238E27FC236}">
                <a16:creationId xmlns:a16="http://schemas.microsoft.com/office/drawing/2014/main" id="{5831FC9D-8889-CA4C-E4FC-B8C06F4BACFB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92725" y="1196975"/>
            <a:ext cx="2695575" cy="2020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9394" name="Picture 18">
            <a:extLst>
              <a:ext uri="{FF2B5EF4-FFF2-40B4-BE49-F238E27FC236}">
                <a16:creationId xmlns:a16="http://schemas.microsoft.com/office/drawing/2014/main" id="{96A4EB08-9710-1B40-8943-602B27A62E59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6013" y="3933825"/>
            <a:ext cx="2660650" cy="21304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9395" name="Picture 19">
            <a:extLst>
              <a:ext uri="{FF2B5EF4-FFF2-40B4-BE49-F238E27FC236}">
                <a16:creationId xmlns:a16="http://schemas.microsoft.com/office/drawing/2014/main" id="{DDAFDFF3-31F2-0F8B-7564-F06047FAC46A}"/>
              </a:ext>
            </a:extLst>
          </p:cNvPr>
          <p:cNvPicPr>
            <a:picLocks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64163" y="3860800"/>
            <a:ext cx="2663825" cy="21304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9397" name="Text Box 21">
            <a:extLst>
              <a:ext uri="{FF2B5EF4-FFF2-40B4-BE49-F238E27FC236}">
                <a16:creationId xmlns:a16="http://schemas.microsoft.com/office/drawing/2014/main" id="{0D25F58D-11B4-0CC6-15B9-D39EC902E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6092825"/>
            <a:ext cx="295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cs-CZ" altLang="cs-CZ" sz="2400" b="1">
                <a:solidFill>
                  <a:srgbClr val="0000FF"/>
                </a:solidFill>
              </a:rPr>
              <a:t>přidaný kontrast</a:t>
            </a:r>
          </a:p>
        </p:txBody>
      </p:sp>
      <p:sp>
        <p:nvSpPr>
          <p:cNvPr id="229398" name="Text Box 22">
            <a:extLst>
              <a:ext uri="{FF2B5EF4-FFF2-40B4-BE49-F238E27FC236}">
                <a16:creationId xmlns:a16="http://schemas.microsoft.com/office/drawing/2014/main" id="{1FC89625-BEDF-9182-4255-FA389A838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6021388"/>
            <a:ext cx="3744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cs-CZ" altLang="cs-CZ" sz="2400" b="1">
                <a:solidFill>
                  <a:srgbClr val="0000FF"/>
                </a:solidFill>
              </a:rPr>
              <a:t>přidaný jas i kontrast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03F8F348-102B-26C5-A236-13359C0BD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58837"/>
          </a:xfrm>
        </p:spPr>
        <p:txBody>
          <a:bodyPr/>
          <a:lstStyle/>
          <a:p>
            <a:r>
              <a:rPr lang="cs-CZ" altLang="cs-CZ"/>
              <a:t>Moaré</a:t>
            </a:r>
          </a:p>
        </p:txBody>
      </p:sp>
      <p:sp>
        <p:nvSpPr>
          <p:cNvPr id="236548" name="Rectangle 4">
            <a:extLst>
              <a:ext uri="{FF2B5EF4-FFF2-40B4-BE49-F238E27FC236}">
                <a16:creationId xmlns:a16="http://schemas.microsoft.com/office/drawing/2014/main" id="{AED5F47C-EAB7-5487-62A0-1E2A178F394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975"/>
            <a:ext cx="5122863" cy="41767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 sz="2600"/>
              <a:t>Moaré je závoj přes obrázek, který vzniká při skenování předlohy tištěné na rastrové tiskárně.</a:t>
            </a:r>
          </a:p>
          <a:p>
            <a:pPr>
              <a:lnSpc>
                <a:spcPct val="90000"/>
              </a:lnSpc>
            </a:pPr>
            <a:r>
              <a:rPr lang="cs-CZ" altLang="cs-CZ" sz="2600"/>
              <a:t>Scannery snímají body, tiskárny tisknou také jednotlivé body. Někdy dojde k takové situaci, že vzniknou bílá kolečka kolem nasnímaných bodů a obrázek je znehodnocen. </a:t>
            </a:r>
          </a:p>
        </p:txBody>
      </p:sp>
      <p:pic>
        <p:nvPicPr>
          <p:cNvPr id="236550" name="Picture 6">
            <a:extLst>
              <a:ext uri="{FF2B5EF4-FFF2-40B4-BE49-F238E27FC236}">
                <a16:creationId xmlns:a16="http://schemas.microsoft.com/office/drawing/2014/main" id="{D0AA2A40-78A6-DE5D-AD22-C78117E10739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08625" y="765175"/>
            <a:ext cx="3289300" cy="43195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6552" name="Rectangle 8">
            <a:extLst>
              <a:ext uri="{FF2B5EF4-FFF2-40B4-BE49-F238E27FC236}">
                <a16:creationId xmlns:a16="http://schemas.microsoft.com/office/drawing/2014/main" id="{68803B5D-F703-AA85-BB52-0A13537D9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300663"/>
            <a:ext cx="7848600" cy="125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cs-CZ" altLang="cs-CZ"/>
              <a:t>potlačení moaré se provádí vhodnou volbou rozlišení případně dalšími funkcemi ve skenovacím software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B404C6D8-A995-C480-B850-E17E729E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7DAC5-18CD-4ABE-9FBA-8936DAA7A7A9}" type="slidenum">
              <a:rPr lang="cs-CZ" altLang="en-US"/>
              <a:pPr/>
              <a:t>24</a:t>
            </a:fld>
            <a:endParaRPr lang="cs-CZ" altLang="en-US"/>
          </a:p>
        </p:txBody>
      </p:sp>
      <p:sp>
        <p:nvSpPr>
          <p:cNvPr id="231426" name="Rectangle 2">
            <a:extLst>
              <a:ext uri="{FF2B5EF4-FFF2-40B4-BE49-F238E27FC236}">
                <a16:creationId xmlns:a16="http://schemas.microsoft.com/office/drawing/2014/main" id="{722D8EFC-3C6A-CFF0-49BA-834A9C6C4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OCR</a:t>
            </a:r>
          </a:p>
        </p:txBody>
      </p:sp>
      <p:sp>
        <p:nvSpPr>
          <p:cNvPr id="231427" name="Rectangle 3">
            <a:extLst>
              <a:ext uri="{FF2B5EF4-FFF2-40B4-BE49-F238E27FC236}">
                <a16:creationId xmlns:a16="http://schemas.microsoft.com/office/drawing/2014/main" id="{DA99EE05-799E-5EFF-C9F9-A8BF2D2C0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/>
              <a:t>Po naskenování je text stále jen obrázek a s takto získaným textem nelze dále pracovat</a:t>
            </a:r>
          </a:p>
          <a:p>
            <a:r>
              <a:rPr lang="cs-CZ" altLang="cs-CZ"/>
              <a:t>Pro převod „obrázku na text“ slouží:</a:t>
            </a:r>
            <a:br>
              <a:rPr lang="cs-CZ" altLang="cs-CZ"/>
            </a:br>
            <a:r>
              <a:rPr lang="cs-CZ" altLang="cs-CZ" b="1">
                <a:solidFill>
                  <a:schemeClr val="tx2"/>
                </a:solidFill>
              </a:rPr>
              <a:t>OCR -</a:t>
            </a:r>
            <a:r>
              <a:rPr lang="cs-CZ" altLang="cs-CZ"/>
              <a:t> </a:t>
            </a:r>
            <a:r>
              <a:rPr lang="cs-CZ" altLang="cs-CZ" i="1"/>
              <a:t>Optical Character Recognition</a:t>
            </a:r>
          </a:p>
          <a:p>
            <a:r>
              <a:rPr lang="cs-CZ" altLang="cs-CZ" i="1"/>
              <a:t>Pro úspěšný převod, musí být předloha dostatečně čitelná a kvalitně naskenovaná, dále je výhodné znát jazyk v němž text je</a:t>
            </a:r>
          </a:p>
          <a:p>
            <a:pPr>
              <a:buFont typeface="Wingdings" panose="05000000000000000000" pitchFamily="2" charset="2"/>
              <a:buNone/>
            </a:pPr>
            <a:endParaRPr lang="cs-CZ" altLang="cs-CZ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1916ED2D-5A7E-71A0-EC20-07EF29E1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2B59-6304-48AC-B6CB-87426D6CF7A5}" type="slidenum">
              <a:rPr lang="cs-CZ" altLang="en-US"/>
              <a:pPr/>
              <a:t>25</a:t>
            </a:fld>
            <a:endParaRPr lang="cs-CZ" altLang="en-US"/>
          </a:p>
        </p:txBody>
      </p:sp>
      <p:sp>
        <p:nvSpPr>
          <p:cNvPr id="232450" name="Rectangle 2">
            <a:extLst>
              <a:ext uri="{FF2B5EF4-FFF2-40B4-BE49-F238E27FC236}">
                <a16:creationId xmlns:a16="http://schemas.microsoft.com/office/drawing/2014/main" id="{D81935AE-391E-3F62-B63E-BAC5D4D24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Ukázka OCR</a:t>
            </a:r>
          </a:p>
        </p:txBody>
      </p:sp>
      <p:pic>
        <p:nvPicPr>
          <p:cNvPr id="232453" name="Picture 5">
            <a:extLst>
              <a:ext uri="{FF2B5EF4-FFF2-40B4-BE49-F238E27FC236}">
                <a16:creationId xmlns:a16="http://schemas.microsoft.com/office/drawing/2014/main" id="{4631C590-067C-B753-B774-E88BEFB19B5E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1484313"/>
            <a:ext cx="7416800" cy="5113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2455" name="Text Box 7">
            <a:extLst>
              <a:ext uri="{FF2B5EF4-FFF2-40B4-BE49-F238E27FC236}">
                <a16:creationId xmlns:a16="http://schemas.microsoft.com/office/drawing/2014/main" id="{448C791C-ADBA-A1B6-23B3-03DFDB7EA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620713"/>
            <a:ext cx="20875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cs-CZ" altLang="cs-CZ" sz="2400" b="1">
                <a:solidFill>
                  <a:srgbClr val="0000FF"/>
                </a:solidFill>
              </a:rPr>
              <a:t>Nasnímaný obrázek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9B446B59-1EF6-016D-8A8C-BC6C3C934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B368-19D6-4AEA-B042-5048040BC2FD}" type="slidenum">
              <a:rPr lang="cs-CZ" altLang="en-US"/>
              <a:pPr/>
              <a:t>26</a:t>
            </a:fld>
            <a:endParaRPr lang="cs-CZ" altLang="en-US"/>
          </a:p>
        </p:txBody>
      </p:sp>
      <p:sp>
        <p:nvSpPr>
          <p:cNvPr id="234498" name="Rectangle 2">
            <a:extLst>
              <a:ext uri="{FF2B5EF4-FFF2-40B4-BE49-F238E27FC236}">
                <a16:creationId xmlns:a16="http://schemas.microsoft.com/office/drawing/2014/main" id="{A967E6FC-EB06-2A02-5A66-23A938912C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Ukázka OCR</a:t>
            </a:r>
          </a:p>
        </p:txBody>
      </p:sp>
      <p:pic>
        <p:nvPicPr>
          <p:cNvPr id="234501" name="Picture 5">
            <a:extLst>
              <a:ext uri="{FF2B5EF4-FFF2-40B4-BE49-F238E27FC236}">
                <a16:creationId xmlns:a16="http://schemas.microsoft.com/office/drawing/2014/main" id="{4575D53D-75C2-47B0-3794-31832211A8F2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66"/>
          <a:stretch>
            <a:fillRect/>
          </a:stretch>
        </p:blipFill>
        <p:spPr>
          <a:xfrm>
            <a:off x="684213" y="1504950"/>
            <a:ext cx="6911975" cy="50815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4502" name="Text Box 6">
            <a:extLst>
              <a:ext uri="{FF2B5EF4-FFF2-40B4-BE49-F238E27FC236}">
                <a16:creationId xmlns:a16="http://schemas.microsoft.com/office/drawing/2014/main" id="{461BB7E8-6F7E-D052-D7C0-959653F7A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4581525"/>
            <a:ext cx="22320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cs-CZ" altLang="cs-CZ" sz="2400" b="1">
                <a:solidFill>
                  <a:srgbClr val="0000FF"/>
                </a:solidFill>
              </a:rPr>
              <a:t>Rozpoznaný text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ED31EB45-1E44-F65F-C508-F5BB8FBE1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B1F7B-AA6B-478F-8454-85592A0B88C5}" type="slidenum">
              <a:rPr lang="cs-CZ" altLang="en-US"/>
              <a:pPr/>
              <a:t>27</a:t>
            </a:fld>
            <a:endParaRPr lang="cs-CZ" altLang="en-US"/>
          </a:p>
        </p:txBody>
      </p:sp>
      <p:sp>
        <p:nvSpPr>
          <p:cNvPr id="235522" name="Rectangle 2">
            <a:extLst>
              <a:ext uri="{FF2B5EF4-FFF2-40B4-BE49-F238E27FC236}">
                <a16:creationId xmlns:a16="http://schemas.microsoft.com/office/drawing/2014/main" id="{3AD5F495-54D9-C124-9C8F-222AE8EB8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Ukázka OCR</a:t>
            </a:r>
          </a:p>
        </p:txBody>
      </p:sp>
      <p:sp>
        <p:nvSpPr>
          <p:cNvPr id="235526" name="Rectangle 6">
            <a:extLst>
              <a:ext uri="{FF2B5EF4-FFF2-40B4-BE49-F238E27FC236}">
                <a16:creationId xmlns:a16="http://schemas.microsoft.com/office/drawing/2014/main" id="{A9075B0B-1934-4280-8454-0856BF2CA6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719263"/>
            <a:ext cx="8207375" cy="3509962"/>
          </a:xfrm>
        </p:spPr>
        <p:txBody>
          <a:bodyPr/>
          <a:lstStyle/>
          <a:p>
            <a:r>
              <a:rPr lang="cs-CZ" altLang="cs-CZ"/>
              <a:t>Rozpoznaný text je možné zkopírovat běžným způsobem (pomocí schránky) do jiné aplikace </a:t>
            </a:r>
          </a:p>
          <a:p>
            <a:r>
              <a:rPr lang="cs-CZ" altLang="cs-CZ"/>
              <a:t>Text je často možné rovnou odeslat do textového editoru (Word)</a:t>
            </a:r>
          </a:p>
          <a:p>
            <a:r>
              <a:rPr lang="cs-CZ" altLang="cs-CZ"/>
              <a:t>V textu je nutné opravit chyby vzniklé nedokonalostí převodu</a:t>
            </a:r>
          </a:p>
          <a:p>
            <a:pPr>
              <a:buFont typeface="Wingdings" panose="05000000000000000000" pitchFamily="2" charset="2"/>
              <a:buNone/>
            </a:pPr>
            <a:endParaRPr lang="cs-CZ" altLang="cs-CZ"/>
          </a:p>
        </p:txBody>
      </p:sp>
      <p:sp>
        <p:nvSpPr>
          <p:cNvPr id="235527" name="Text Box 7">
            <a:extLst>
              <a:ext uri="{FF2B5EF4-FFF2-40B4-BE49-F238E27FC236}">
                <a16:creationId xmlns:a16="http://schemas.microsoft.com/office/drawing/2014/main" id="{A57B08CD-8D8F-E1A2-C31A-2DE22D2BB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516563"/>
            <a:ext cx="66976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altLang="cs-CZ" sz="2400">
                <a:solidFill>
                  <a:srgbClr val="0000FF"/>
                </a:solidFill>
                <a:hlinkClick r:id="rId2" action="ppaction://hlinkfile"/>
              </a:rPr>
              <a:t>Dokument vytvořený programem</a:t>
            </a:r>
            <a:br>
              <a:rPr lang="cs-CZ" altLang="cs-CZ" sz="2400">
                <a:solidFill>
                  <a:srgbClr val="0000FF"/>
                </a:solidFill>
                <a:hlinkClick r:id="rId2" action="ppaction://hlinkfile"/>
              </a:rPr>
            </a:br>
            <a:r>
              <a:rPr lang="cs-CZ" altLang="cs-CZ" sz="2400">
                <a:solidFill>
                  <a:srgbClr val="0000FF"/>
                </a:solidFill>
                <a:hlinkClick r:id="rId2" action="ppaction://hlinkfile"/>
              </a:rPr>
              <a:t> ABBYY FineReader převodem do MS Wordu</a:t>
            </a:r>
            <a:r>
              <a:rPr lang="cs-CZ" altLang="cs-CZ">
                <a:hlinkClick r:id="rId2" action="ppaction://hlinkfile"/>
              </a:rPr>
              <a:t> </a:t>
            </a:r>
            <a:endParaRPr lang="cs-CZ" altLang="cs-CZ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íť">
  <a:themeElements>
    <a:clrScheme name="Síť 11">
      <a:dk1>
        <a:srgbClr val="000000"/>
      </a:dk1>
      <a:lt1>
        <a:srgbClr val="FFFFFF"/>
      </a:lt1>
      <a:dk2>
        <a:srgbClr val="006600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Síť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íť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íť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íť 11">
        <a:dk1>
          <a:srgbClr val="000000"/>
        </a:dk1>
        <a:lt1>
          <a:srgbClr val="FFFFFF"/>
        </a:lt1>
        <a:dk2>
          <a:srgbClr val="006600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34672E67BBE6E4F86992DD318B65C2D" ma:contentTypeVersion="11" ma:contentTypeDescription="Vytvoří nový dokument" ma:contentTypeScope="" ma:versionID="718c769fb616eb24d3a3a419d517197c">
  <xsd:schema xmlns:xsd="http://www.w3.org/2001/XMLSchema" xmlns:xs="http://www.w3.org/2001/XMLSchema" xmlns:p="http://schemas.microsoft.com/office/2006/metadata/properties" xmlns:ns2="5286730a-25bc-4e01-8bd3-733cbbfabeec" xmlns:ns3="8d61dfef-e2ba-4bfa-99a3-b2b7d6b735f8" targetNamespace="http://schemas.microsoft.com/office/2006/metadata/properties" ma:root="true" ma:fieldsID="3312bd17b82dc3b10653c02e7e2981a3" ns2:_="" ns3:_="">
    <xsd:import namespace="5286730a-25bc-4e01-8bd3-733cbbfabeec"/>
    <xsd:import namespace="8d61dfef-e2ba-4bfa-99a3-b2b7d6b735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86730a-25bc-4e01-8bd3-733cbbfabe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cac3c45c-c2eb-42cc-84e6-8cb35b084e4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61dfef-e2ba-4bfa-99a3-b2b7d6b735f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fb16449-7eea-4409-96b3-23f1620c7c4e}" ma:internalName="TaxCatchAll" ma:showField="CatchAllData" ma:web="8d61dfef-e2ba-4bfa-99a3-b2b7d6b735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d61dfef-e2ba-4bfa-99a3-b2b7d6b735f8" xsi:nil="true"/>
    <lcf76f155ced4ddcb4097134ff3c332f xmlns="5286730a-25bc-4e01-8bd3-733cbbfabee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E1EC0E3-8D74-4946-ACDD-5418F1EDF009}"/>
</file>

<file path=customXml/itemProps2.xml><?xml version="1.0" encoding="utf-8"?>
<ds:datastoreItem xmlns:ds="http://schemas.openxmlformats.org/officeDocument/2006/customXml" ds:itemID="{26EDA17A-9BE5-4A0D-9EF4-7286CCF1A631}"/>
</file>

<file path=customXml/itemProps3.xml><?xml version="1.0" encoding="utf-8"?>
<ds:datastoreItem xmlns:ds="http://schemas.openxmlformats.org/officeDocument/2006/customXml" ds:itemID="{FEA1DB28-3468-4288-B47F-317C8F69BE74}"/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1615</TotalTime>
  <Words>712</Words>
  <Application>Microsoft Office PowerPoint</Application>
  <PresentationFormat>Předvádění na obrazovce (4:3)</PresentationFormat>
  <Paragraphs>119</Paragraphs>
  <Slides>27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27</vt:i4>
      </vt:variant>
    </vt:vector>
  </HeadingPairs>
  <TitlesOfParts>
    <vt:vector size="31" baseType="lpstr">
      <vt:lpstr>Arial</vt:lpstr>
      <vt:lpstr>Times New Roman</vt:lpstr>
      <vt:lpstr>Wingdings</vt:lpstr>
      <vt:lpstr>Síť</vt:lpstr>
      <vt:lpstr>Skenování</vt:lpstr>
      <vt:lpstr>Scannery</vt:lpstr>
      <vt:lpstr>Scannery</vt:lpstr>
      <vt:lpstr>Scannery</vt:lpstr>
      <vt:lpstr>Scannery</vt:lpstr>
      <vt:lpstr>Scannery </vt:lpstr>
      <vt:lpstr>Scannery </vt:lpstr>
      <vt:lpstr>Vlastnosti scannerů</vt:lpstr>
      <vt:lpstr>Vlastnosti scannerů</vt:lpstr>
      <vt:lpstr>Skenování</vt:lpstr>
      <vt:lpstr>Skenování </vt:lpstr>
      <vt:lpstr>Speciální software:</vt:lpstr>
      <vt:lpstr>Speciální software:</vt:lpstr>
      <vt:lpstr>Skenování </vt:lpstr>
      <vt:lpstr>Skenování </vt:lpstr>
      <vt:lpstr>Skenování </vt:lpstr>
      <vt:lpstr>Skenování </vt:lpstr>
      <vt:lpstr>Skenování </vt:lpstr>
      <vt:lpstr>Prezentace aplikace PowerPoint</vt:lpstr>
      <vt:lpstr>Prezentace aplikace PowerPoint</vt:lpstr>
      <vt:lpstr>Prezentace aplikace PowerPoint</vt:lpstr>
      <vt:lpstr>Prezentace aplikace PowerPoint</vt:lpstr>
      <vt:lpstr>Moaré</vt:lpstr>
      <vt:lpstr>OCR</vt:lpstr>
      <vt:lpstr>Ukázka OCR</vt:lpstr>
      <vt:lpstr>Ukázka OCR</vt:lpstr>
      <vt:lpstr>Ukázka OCR</vt:lpstr>
    </vt:vector>
  </TitlesOfParts>
  <Company>DATAX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Grafika</dc:title>
  <dc:creator>Josef Bašta </dc:creator>
  <cp:lastModifiedBy>Fojtík Jan</cp:lastModifiedBy>
  <cp:revision>39</cp:revision>
  <dcterms:created xsi:type="dcterms:W3CDTF">2007-12-04T18:54:10Z</dcterms:created>
  <dcterms:modified xsi:type="dcterms:W3CDTF">2024-01-08T08:13:51Z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0x010100934672E67BBE6E4F86992DD318B65C2D</vt:lpwstr>
  </property>
</Properties>
</file>